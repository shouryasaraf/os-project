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49e1c4fe25040ab" /><Relationship Type="http://schemas.openxmlformats.org/officeDocument/2006/relationships/extended-properties" Target="/docProps/app.xml" Id="R6e735b7a0a1e4aac" /><Relationship Type="http://schemas.openxmlformats.org/officeDocument/2006/relationships/officeDocument" Target="/ppt/presentation.xml" Id="R12ee30ed55eb4872" /></Relationships>
</file>

<file path=ppt/presentation.xml><?xml version="1.0" encoding="utf-8"?>
<p:presentation xmlns:p="http://schemas.openxmlformats.org/presentationml/2006/main">
  <p:sldMasterIdLst>
    <p:sldMasterId xmlns:r="http://schemas.openxmlformats.org/officeDocument/2006/relationships" id="2147483648" r:id="R8e1e83ce404742dc"/>
  </p:sldMasterIdLst>
  <p:notesMasterIdLst>
    <p:notesMasterId xmlns:r="http://schemas.openxmlformats.org/officeDocument/2006/relationships" r:id="R36188231b7374876"/>
  </p:notesMasterIdLst>
  <p:sldIdLst>
    <p:sldId xmlns:r="http://schemas.openxmlformats.org/officeDocument/2006/relationships" id="256" r:id="R017c7e901ce842f6"/>
    <p:sldId xmlns:r="http://schemas.openxmlformats.org/officeDocument/2006/relationships" id="257" r:id="Red7d2e3f97b543a5"/>
    <p:sldId xmlns:r="http://schemas.openxmlformats.org/officeDocument/2006/relationships" id="258" r:id="Rb6b05fd55e1f43f4"/>
    <p:sldId xmlns:r="http://schemas.openxmlformats.org/officeDocument/2006/relationships" id="259" r:id="Rdbf0ab93b07e468c"/>
    <p:sldId xmlns:r="http://schemas.openxmlformats.org/officeDocument/2006/relationships" id="260" r:id="R8f8a85b0fbd64b2d"/>
    <p:sldId xmlns:r="http://schemas.openxmlformats.org/officeDocument/2006/relationships" id="261" r:id="Rc8dab640177a4603"/>
    <p:sldId xmlns:r="http://schemas.openxmlformats.org/officeDocument/2006/relationships" id="262" r:id="R035510d6c1164842"/>
    <p:sldId xmlns:r="http://schemas.openxmlformats.org/officeDocument/2006/relationships" id="263" r:id="Ra17a217195884686"/>
    <p:sldId xmlns:r="http://schemas.openxmlformats.org/officeDocument/2006/relationships" id="264" r:id="Rfcfc10465a104e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76aebbcf7546d4" /><Relationship Type="http://schemas.openxmlformats.org/officeDocument/2006/relationships/slideMaster" Target="/ppt/slideMasters/slideMaster1.xml" Id="R8e1e83ce404742dc" /><Relationship Type="http://schemas.openxmlformats.org/officeDocument/2006/relationships/notesMaster" Target="/ppt/notesMasters/notesMaster1.xml" Id="R36188231b7374876" /><Relationship Type="http://schemas.openxmlformats.org/officeDocument/2006/relationships/presProps" Target="/ppt/presProps.xml" Id="Rc2761356676042a9" /><Relationship Type="http://schemas.openxmlformats.org/officeDocument/2006/relationships/tableStyles" Target="/ppt/tableStyles.xml" Id="R1ae6f3d40a7b4d57" /><Relationship Type="http://schemas.openxmlformats.org/officeDocument/2006/relationships/slide" Target="/ppt/slides/slide1.xml" Id="R017c7e901ce842f6" /><Relationship Type="http://schemas.openxmlformats.org/officeDocument/2006/relationships/slide" Target="/ppt/slides/slide2.xml" Id="Red7d2e3f97b543a5" /><Relationship Type="http://schemas.openxmlformats.org/officeDocument/2006/relationships/slide" Target="/ppt/slides/slide3.xml" Id="Rb6b05fd55e1f43f4" /><Relationship Type="http://schemas.openxmlformats.org/officeDocument/2006/relationships/slide" Target="/ppt/slides/slide4.xml" Id="Rdbf0ab93b07e468c" /><Relationship Type="http://schemas.openxmlformats.org/officeDocument/2006/relationships/slide" Target="/ppt/slides/slide5.xml" Id="R8f8a85b0fbd64b2d" /><Relationship Type="http://schemas.openxmlformats.org/officeDocument/2006/relationships/slide" Target="/ppt/slides/slide6.xml" Id="Rc8dab640177a4603" /><Relationship Type="http://schemas.openxmlformats.org/officeDocument/2006/relationships/slide" Target="/ppt/slides/slide7.xml" Id="R035510d6c1164842" /><Relationship Type="http://schemas.openxmlformats.org/officeDocument/2006/relationships/slide" Target="/ppt/slides/slide8.xml" Id="Ra17a217195884686" /><Relationship Type="http://schemas.openxmlformats.org/officeDocument/2006/relationships/slide" Target="/ppt/slides/slide9.xml" Id="Rfcfc10465a104e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ee818133554b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04924b9ec24d4f" /><Relationship Type="http://schemas.openxmlformats.org/officeDocument/2006/relationships/notesMaster" Target="/ppt/notesMasters/notesMaster1.xml" Id="Rcb07cfa0658249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68dd825ecb4966" /><Relationship Type="http://schemas.openxmlformats.org/officeDocument/2006/relationships/notesMaster" Target="/ppt/notesMasters/notesMaster1.xml" Id="Re030aabb29c64f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c51223249543ad" /><Relationship Type="http://schemas.openxmlformats.org/officeDocument/2006/relationships/notesMaster" Target="/ppt/notesMasters/notesMaster1.xml" Id="Rd583b45273a449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c4a47264034b59" /><Relationship Type="http://schemas.openxmlformats.org/officeDocument/2006/relationships/notesMaster" Target="/ppt/notesMasters/notesMaster1.xml" Id="Rd8c3de59d2d54b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385b8ded984884" /><Relationship Type="http://schemas.openxmlformats.org/officeDocument/2006/relationships/notesMaster" Target="/ppt/notesMasters/notesMaster1.xml" Id="R38d2835ab7cb45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06a748e3734d61" /><Relationship Type="http://schemas.openxmlformats.org/officeDocument/2006/relationships/notesMaster" Target="/ppt/notesMasters/notesMaster1.xml" Id="Rcfc8e3b3b0f046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628ce675834046" /><Relationship Type="http://schemas.openxmlformats.org/officeDocument/2006/relationships/notesMaster" Target="/ppt/notesMasters/notesMaster1.xml" Id="Ra3a6815dc6b345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008d61bbe1484b" /><Relationship Type="http://schemas.openxmlformats.org/officeDocument/2006/relationships/notesMaster" Target="/ppt/notesMasters/notesMaster1.xml" Id="R2bce19bd3aa647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2ca29f497c4f13" /><Relationship Type="http://schemas.openxmlformats.org/officeDocument/2006/relationships/notesMaster" Target="/ppt/notesMasters/notesMaster1.xml" Id="R30de1960ef1b49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contribution is classifying recent disk accesses before choosing a prefetch policy. This is a user-space simulation, not a kernel modification. Source: team Review 1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 rubric asks for architecture, module identification, module completion, and presentation. Demonstrate the real implemented pipeline and do not claim real-trace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pipeline in order. A completed window changes the policy only for future requests. Online model updates in this prototype use known synthetic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schema is an agreement about columns and units. LBA is a block index, size is blocks, timestamp is milliseconds. The generator supplies four known labels for controlled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Gaussian Naive Bayes. It stores class counts and running feature means and variances. Ground-truth labels are needed for supervised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mappings are implemented in the simulator. A cache hit means a requested read block was resident. Prefetch precision is useful prefetches divided by prefetches issued.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listed implemented modules have source code and unit tests or live demo evidence. The production trace adapter and kernel integration are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are from a deterministic generated trace with seed 42, 4 windows per class, 128-block LRU cache. They do not establish real-world performance. Compare both hit ratio and unnecessary prefetching.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demo command, explain the confusion matrix, then show policy transitions and baseline comparison. Run unit tests. Emphasize that 100 percent synthetic accuracy is limited evidence and that the simulator does not estimate physical disk latency.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bac826dfac49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b0ed4dd54e4832" /><Relationship Type="http://schemas.openxmlformats.org/officeDocument/2006/relationships/slideLayout" Target="/ppt/slideLayouts/slideLayout1.xml" Id="R55c32a3ba5984b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c32a3ba5984b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31b1323d4249b5" /><Relationship Type="http://schemas.openxmlformats.org/officeDocument/2006/relationships/notesSlide" Target="/ppt/notesSlides/notesSlide1.xml" Id="R459ecc52157748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9981b275a340ee" /><Relationship Type="http://schemas.openxmlformats.org/officeDocument/2006/relationships/notesSlide" Target="/ppt/notesSlides/notesSlide2.xml" Id="R34d05735d55941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7b8c47095b4748" /><Relationship Type="http://schemas.openxmlformats.org/officeDocument/2006/relationships/notesSlide" Target="/ppt/notesSlides/notesSlide3.xml" Id="R86a0b29e6c2645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dc937441704d9b" /><Relationship Type="http://schemas.openxmlformats.org/officeDocument/2006/relationships/notesSlide" Target="/ppt/notesSlides/notesSlide4.xml" Id="R3f396b786e854b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a985b4c9874877" /><Relationship Type="http://schemas.openxmlformats.org/officeDocument/2006/relationships/notesSlide" Target="/ppt/notesSlides/notesSlide5.xml" Id="Rb7206f21104d49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b9bfb14112046c4" /><Relationship Type="http://schemas.openxmlformats.org/officeDocument/2006/relationships/notesSlide" Target="/ppt/notesSlides/notesSlide6.xml" Id="R1a246d195c1846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21f415147d4893" /><Relationship Type="http://schemas.openxmlformats.org/officeDocument/2006/relationships/notesSlide" Target="/ppt/notesSlides/notesSlide7.xml" Id="Ra2a3fd61f1114c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d037f68ab34001" /><Relationship Type="http://schemas.openxmlformats.org/officeDocument/2006/relationships/chart" Target="/ppt/slides/charts/chart1.xml" Id="R116f1b556a9c4f12" /><Relationship Type="http://schemas.openxmlformats.org/officeDocument/2006/relationships/notesSlide" Target="/ppt/notesSlides/notesSlide8.xml" Id="Rc182e10cf7d749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cafbba85ce410c" /><Relationship Type="http://schemas.openxmlformats.org/officeDocument/2006/relationships/notesSlide" Target="/ppt/notesSlides/notesSlide9.xml" Id="R662410d6f2b2473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Read hit ratio (%)</c:v>
          </c:tx>
          <c:spPr>
            <a:solidFill xmlns:a="http://schemas.openxmlformats.org/drawingml/2006/main">
              <a:srgbClr val="1769AA"/>
            </a:solidFill>
          </c:spPr>
          <c:cat>
            <c:strRef>
              <c:f>'Chart Data'!$A$2:$A$5</c:f>
              <c:strCache>
                <c:ptCount val="4"/>
                <c:pt idx="0">
                  <c:v>No prefetch</c:v>
                </c:pt>
                <c:pt idx="1">
                  <c:v>Read ahead</c:v>
                </c:pt>
                <c:pt idx="2">
                  <c:v>Fixed stride</c:v>
                </c:pt>
                <c:pt idx="3">
                  <c:v>Adaptive</c:v>
                </c:pt>
              </c:strCache>
            </c:strRef>
          </c:cat>
          <c:val>
            <c:numRef>
              <c:f>'Chart Data'!$B$2:$B$5</c:f>
              <c:numCache>
                <c:formatCode>General</c:formatCode>
                <c:ptCount val="4"/>
                <c:pt idx="0">
                  <c:v>0</c:v>
                </c:pt>
                <c:pt idx="1">
                  <c:v>25.8</c:v>
                </c:pt>
                <c:pt idx="2">
                  <c:v>7.8</c:v>
                </c:pt>
                <c:pt idx="3">
                  <c:v>25.1</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4273B"/>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4B5B6A"/>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CF016C9-3094-4F48-8140-A38DE96FE16C}"/>
              </a:ext>
            </a:extLst>
          </p:cNvPr>
          <p:cNvSpPr>
            <a:spLocks xmlns:a="http://schemas.openxmlformats.org/drawingml/2006/main" noGrp="1"/>
          </p:cNvSpPr>
          <p:nvPr/>
        </p:nvSpPr>
        <p:spPr>
          <a:xfrm xmlns:a="http://schemas.openxmlformats.org/drawingml/2006/main">
            <a:off x="723900" y="1333500"/>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4273B"/>
                </a:solidFill>
                <a:latin typeface="Arial"/>
                <a:ea typeface="Arial"/>
                <a:cs typeface="Arial"/>
              </a:defRPr>
            </a:pPr>
            <a:r>
              <a:rPr sz="3750" b="1">
                <a:solidFill>
                  <a:srgbClr val="14273B"/>
                </a:solidFill>
                <a:latin typeface="Arial"/>
                <a:ea typeface="Arial"/>
                <a:cs typeface="Arial"/>
              </a:rPr>
              <a:t>Machine Learning-Based Adaptive Disk I/O Prefetching</a:t>
            </a:r>
          </a:p>
        </p:txBody>
      </p:sp>
      <p:sp>
        <p:nvSpPr>
          <p:cNvPr id="2" name="">
            <a:extLst xmlns:a="http://schemas.openxmlformats.org/drawingml/2006/main">
              <a:ext uri="{FF2B5EF4-FFF2-40B4-BE49-F238E27FC236}">
                <a16:creationId xmlns:a16="http://schemas.microsoft.com/office/drawing/2014/main" id="{08D686C3-7527-46AF-8B96-962F4503A3C6}"/>
              </a:ext>
            </a:extLst>
          </p:cNvPr>
          <p:cNvSpPr>
            <a:spLocks xmlns:a="http://schemas.openxmlformats.org/drawingml/2006/main" noGrp="1"/>
          </p:cNvSpPr>
          <p:nvPr/>
        </p:nvSpPr>
        <p:spPr>
          <a:xfrm xmlns:a="http://schemas.openxmlformats.org/drawingml/2006/main">
            <a:off x="762000" y="3238500"/>
            <a:ext cx="7620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769AA"/>
                </a:solidFill>
                <a:latin typeface="Arial"/>
                <a:ea typeface="Arial"/>
                <a:cs typeface="Arial"/>
              </a:defRPr>
            </a:pPr>
            <a:r>
              <a:rPr sz="2400" b="0">
                <a:solidFill>
                  <a:srgbClr val="1769AA"/>
                </a:solidFill>
                <a:latin typeface="Arial"/>
                <a:ea typeface="Arial"/>
                <a:cs typeface="Arial"/>
              </a:rPr>
              <a:t>Project Review 2</a:t>
            </a:r>
          </a:p>
        </p:txBody>
      </p:sp>
      <p:sp>
        <p:nvSpPr>
          <p:cNvPr id="3" name="">
            <a:extLst xmlns:a="http://schemas.openxmlformats.org/drawingml/2006/main">
              <a:ext uri="{FF2B5EF4-FFF2-40B4-BE49-F238E27FC236}">
                <a16:creationId xmlns:a16="http://schemas.microsoft.com/office/drawing/2014/main" id="{DA40C9BD-2FF1-43E3-B102-8848FED2BD33}"/>
              </a:ext>
            </a:extLst>
          </p:cNvPr>
          <p:cNvSpPr>
            <a:spLocks xmlns:a="http://schemas.openxmlformats.org/drawingml/2006/main" noGrp="1"/>
          </p:cNvSpPr>
          <p:nvPr/>
        </p:nvSpPr>
        <p:spPr>
          <a:xfrm xmlns:a="http://schemas.openxmlformats.org/drawingml/2006/main">
            <a:off x="762000" y="485775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B5B6A"/>
                </a:solidFill>
                <a:latin typeface="Arial"/>
                <a:ea typeface="Arial"/>
                <a:cs typeface="Arial"/>
              </a:defRPr>
            </a:pPr>
            <a:r>
              <a:rPr sz="1725" b="0">
                <a:solidFill>
                  <a:srgbClr val="4B5B6A"/>
                </a:solidFill>
                <a:latin typeface="Arial"/>
                <a:ea typeface="Arial"/>
                <a:cs typeface="Arial"/>
              </a:rPr>
              <a:t>Ashvik Mishra 24BAI0342 and Shourya Saraf 24BDS0391</a:t>
            </a:r>
          </a:p>
        </p:txBody>
      </p:sp>
    </p:spTree>
    <p:extLst>
      <p:ext uri="{BB962C8B-B14F-4D97-AF65-F5344CB8AC3E}">
        <p14:creationId xmlns:p14="http://schemas.microsoft.com/office/powerpoint/2010/main" val="16807845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57177D-E9BB-47D5-ADC5-7AD41081CEA4}"/>
              </a:ext>
            </a:extLst>
          </p:cNvPr>
          <p:cNvSpPr>
            <a:spLocks xmlns:a="http://schemas.openxmlformats.org/drawingml/2006/main" noGrp="1"/>
          </p:cNvSpPr>
          <p:nvPr/>
        </p:nvSpPr>
        <p:spPr>
          <a:xfrm xmlns:a="http://schemas.openxmlformats.org/drawingml/2006/main">
            <a:off x="723900" y="495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4273B"/>
                </a:solidFill>
                <a:latin typeface="Arial"/>
                <a:ea typeface="Arial"/>
                <a:cs typeface="Arial"/>
              </a:defRPr>
            </a:pPr>
            <a:r>
              <a:rPr sz="3150" b="1">
                <a:solidFill>
                  <a:srgbClr val="14273B"/>
                </a:solidFill>
                <a:latin typeface="Arial"/>
                <a:ea typeface="Arial"/>
                <a:cs typeface="Arial"/>
              </a:rPr>
              <a:t>Review 2 objective</a:t>
            </a:r>
          </a:p>
        </p:txBody>
      </p:sp>
      <p:sp>
        <p:nvSpPr>
          <p:cNvPr id="2" name="">
            <a:extLst xmlns:a="http://schemas.openxmlformats.org/drawingml/2006/main">
              <a:ext uri="{FF2B5EF4-FFF2-40B4-BE49-F238E27FC236}">
                <a16:creationId xmlns:a16="http://schemas.microsoft.com/office/drawing/2014/main" id="{F39BD9DD-FECA-429A-9010-C0660DC34735}"/>
              </a:ext>
            </a:extLst>
          </p:cNvPr>
          <p:cNvSpPr>
            <a:spLocks xmlns:a="http://schemas.openxmlformats.org/drawingml/2006/main" noGrp="1"/>
          </p:cNvSpPr>
          <p:nvPr/>
        </p:nvSpPr>
        <p:spPr>
          <a:xfrm xmlns:a="http://schemas.openxmlformats.org/drawingml/2006/main">
            <a:off x="762000" y="1714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4273B"/>
                </a:solidFill>
                <a:latin typeface="Arial"/>
                <a:ea typeface="Arial"/>
                <a:cs typeface="Arial"/>
              </a:defRPr>
            </a:pPr>
            <a:r>
              <a:rPr sz="2325" b="0">
                <a:solidFill>
                  <a:srgbClr val="14273B"/>
                </a:solidFill>
                <a:latin typeface="Arial"/>
                <a:ea typeface="Arial"/>
                <a:cs typeface="Arial"/>
              </a:rPr>
              <a:t>Classify four access patterns from recent I/O requests</a:t>
            </a:r>
          </a:p>
        </p:txBody>
      </p:sp>
      <p:sp>
        <p:nvSpPr>
          <p:cNvPr id="3" name="">
            <a:extLst xmlns:a="http://schemas.openxmlformats.org/drawingml/2006/main">
              <a:ext uri="{FF2B5EF4-FFF2-40B4-BE49-F238E27FC236}">
                <a16:creationId xmlns:a16="http://schemas.microsoft.com/office/drawing/2014/main" id="{F2EDC2C3-F58C-4CCC-B5E8-079EAA7460FB}"/>
              </a:ext>
            </a:extLst>
          </p:cNvPr>
          <p:cNvSpPr>
            <a:spLocks xmlns:a="http://schemas.openxmlformats.org/drawingml/2006/main" noGrp="1"/>
          </p:cNvSpPr>
          <p:nvPr/>
        </p:nvSpPr>
        <p:spPr>
          <a:xfrm xmlns:a="http://schemas.openxmlformats.org/drawingml/2006/main">
            <a:off x="762000" y="27146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4273B"/>
                </a:solidFill>
                <a:latin typeface="Arial"/>
                <a:ea typeface="Arial"/>
                <a:cs typeface="Arial"/>
              </a:defRPr>
            </a:pPr>
            <a:r>
              <a:rPr sz="2325" b="0">
                <a:solidFill>
                  <a:srgbClr val="14273B"/>
                </a:solidFill>
                <a:latin typeface="Arial"/>
                <a:ea typeface="Arial"/>
                <a:cs typeface="Arial"/>
              </a:rPr>
              <a:t>Use the predicted pattern to select a prefetch policy</a:t>
            </a:r>
          </a:p>
        </p:txBody>
      </p:sp>
      <p:sp>
        <p:nvSpPr>
          <p:cNvPr id="4" name="">
            <a:extLst xmlns:a="http://schemas.openxmlformats.org/drawingml/2006/main">
              <a:ext uri="{FF2B5EF4-FFF2-40B4-BE49-F238E27FC236}">
                <a16:creationId xmlns:a16="http://schemas.microsoft.com/office/drawing/2014/main" id="{8E8F1A36-0BE9-4AA8-9C61-1AAAD3E949E6}"/>
              </a:ext>
            </a:extLst>
          </p:cNvPr>
          <p:cNvSpPr>
            <a:spLocks xmlns:a="http://schemas.openxmlformats.org/drawingml/2006/main" noGrp="1"/>
          </p:cNvSpPr>
          <p:nvPr/>
        </p:nvSpPr>
        <p:spPr>
          <a:xfrm xmlns:a="http://schemas.openxmlformats.org/drawingml/2006/main">
            <a:off x="762000" y="3714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4273B"/>
                </a:solidFill>
                <a:latin typeface="Arial"/>
                <a:ea typeface="Arial"/>
                <a:cs typeface="Arial"/>
              </a:defRPr>
            </a:pPr>
            <a:r>
              <a:rPr sz="2325" b="0">
                <a:solidFill>
                  <a:srgbClr val="14273B"/>
                </a:solidFill>
                <a:latin typeface="Arial"/>
                <a:ea typeface="Arial"/>
                <a:cs typeface="Arial"/>
              </a:rPr>
              <a:t>Measure cache hits and wasted prefetches in one replay</a:t>
            </a:r>
          </a:p>
        </p:txBody>
      </p:sp>
      <p:sp>
        <p:nvSpPr>
          <p:cNvPr id="5" name="">
            <a:extLst xmlns:a="http://schemas.openxmlformats.org/drawingml/2006/main">
              <a:ext uri="{FF2B5EF4-FFF2-40B4-BE49-F238E27FC236}">
                <a16:creationId xmlns:a16="http://schemas.microsoft.com/office/drawing/2014/main" id="{9641D489-39F3-49FF-887A-12FF0F0CA420}"/>
              </a:ext>
            </a:extLst>
          </p:cNvPr>
          <p:cNvSpPr>
            <a:spLocks xmlns:a="http://schemas.openxmlformats.org/drawingml/2006/main" noGrp="1"/>
          </p:cNvSpPr>
          <p:nvPr/>
        </p:nvSpPr>
        <p:spPr>
          <a:xfrm xmlns:a="http://schemas.openxmlformats.org/drawingml/2006/main">
            <a:off x="762000" y="5191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769AA"/>
                </a:solidFill>
                <a:latin typeface="Arial"/>
                <a:ea typeface="Arial"/>
                <a:cs typeface="Arial"/>
              </a:defRPr>
            </a:pPr>
            <a:r>
              <a:rPr sz="1800" b="0">
                <a:solidFill>
                  <a:srgbClr val="1769AA"/>
                </a:solidFill>
                <a:latin typeface="Arial"/>
                <a:ea typeface="Arial"/>
                <a:cs typeface="Arial"/>
              </a:rPr>
              <a:t>Current evidence: labelled synthetic traces</a:t>
            </a:r>
          </a:p>
        </p:txBody>
      </p:sp>
    </p:spTree>
    <p:extLst>
      <p:ext uri="{BB962C8B-B14F-4D97-AF65-F5344CB8AC3E}">
        <p14:creationId xmlns:p14="http://schemas.microsoft.com/office/powerpoint/2010/main" val="1653156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381685-3CE3-48A7-A600-DC3858C36BB9}"/>
              </a:ext>
            </a:extLst>
          </p:cNvPr>
          <p:cNvSpPr>
            <a:spLocks xmlns:a="http://schemas.openxmlformats.org/drawingml/2006/main" noGrp="1"/>
          </p:cNvSpPr>
          <p:nvPr/>
        </p:nvSpPr>
        <p:spPr>
          <a:xfrm xmlns:a="http://schemas.openxmlformats.org/drawingml/2006/main">
            <a:off x="723900" y="495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4273B"/>
                </a:solidFill>
                <a:latin typeface="Arial"/>
                <a:ea typeface="Arial"/>
                <a:cs typeface="Arial"/>
              </a:defRPr>
            </a:pPr>
            <a:r>
              <a:rPr sz="3150" b="1">
                <a:solidFill>
                  <a:srgbClr val="14273B"/>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AD237E47-0FC0-406F-9862-F054109EEC0B}"/>
              </a:ext>
            </a:extLst>
          </p:cNvPr>
          <p:cNvSpPr>
            <a:spLocks xmlns:a="http://schemas.openxmlformats.org/drawingml/2006/main" noGrp="1"/>
          </p:cNvSpPr>
          <p:nvPr/>
        </p:nvSpPr>
        <p:spPr>
          <a:xfrm xmlns:a="http://schemas.openxmlformats.org/drawingml/2006/main">
            <a:off x="781050" y="14287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769AA"/>
                </a:solidFill>
                <a:latin typeface="Arial"/>
                <a:ea typeface="Arial"/>
                <a:cs typeface="Arial"/>
              </a:defRPr>
            </a:pPr>
            <a:r>
              <a:rPr sz="2250" b="1">
                <a:solidFill>
                  <a:srgbClr val="1769AA"/>
                </a:solidFill>
                <a:latin typeface="Arial"/>
                <a:ea typeface="Arial"/>
                <a:cs typeface="Arial"/>
              </a:rPr>
              <a:t>I/O trace requests</a:t>
            </a:r>
          </a:p>
        </p:txBody>
      </p:sp>
      <p:sp>
        <p:nvSpPr>
          <p:cNvPr id="3" name="">
            <a:extLst xmlns:a="http://schemas.openxmlformats.org/drawingml/2006/main">
              <a:ext uri="{FF2B5EF4-FFF2-40B4-BE49-F238E27FC236}">
                <a16:creationId xmlns:a16="http://schemas.microsoft.com/office/drawing/2014/main" id="{08E9E802-26F2-4117-A909-FB356C902F7D}"/>
              </a:ext>
            </a:extLst>
          </p:cNvPr>
          <p:cNvSpPr>
            <a:spLocks xmlns:a="http://schemas.openxmlformats.org/drawingml/2006/main" noGrp="1"/>
          </p:cNvSpPr>
          <p:nvPr/>
        </p:nvSpPr>
        <p:spPr>
          <a:xfrm xmlns:a="http://schemas.openxmlformats.org/drawingml/2006/main">
            <a:off x="781050" y="2047875"/>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4273B"/>
                </a:solidFill>
                <a:latin typeface="Arial"/>
                <a:ea typeface="Arial"/>
                <a:cs typeface="Arial"/>
              </a:defRPr>
            </a:pPr>
            <a:r>
              <a:rPr sz="2100" b="0">
                <a:solidFill>
                  <a:srgbClr val="14273B"/>
                </a:solidFill>
                <a:latin typeface="Arial"/>
                <a:ea typeface="Arial"/>
                <a:cs typeface="Arial"/>
              </a:rPr>
              <a:t>↓  Validate and group 32 recent requests</a:t>
            </a:r>
          </a:p>
        </p:txBody>
      </p:sp>
      <p:sp>
        <p:nvSpPr>
          <p:cNvPr id="4" name="">
            <a:extLst xmlns:a="http://schemas.openxmlformats.org/drawingml/2006/main">
              <a:ext uri="{FF2B5EF4-FFF2-40B4-BE49-F238E27FC236}">
                <a16:creationId xmlns:a16="http://schemas.microsoft.com/office/drawing/2014/main" id="{521B345C-25BE-4096-8A0D-1464646356D1}"/>
              </a:ext>
            </a:extLst>
          </p:cNvPr>
          <p:cNvSpPr>
            <a:spLocks xmlns:a="http://schemas.openxmlformats.org/drawingml/2006/main" noGrp="1"/>
          </p:cNvSpPr>
          <p:nvPr/>
        </p:nvSpPr>
        <p:spPr>
          <a:xfrm xmlns:a="http://schemas.openxmlformats.org/drawingml/2006/main">
            <a:off x="781050" y="266700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4273B"/>
                </a:solidFill>
                <a:latin typeface="Arial"/>
                <a:ea typeface="Arial"/>
                <a:cs typeface="Arial"/>
              </a:defRPr>
            </a:pPr>
            <a:r>
              <a:rPr sz="2100" b="0">
                <a:solidFill>
                  <a:srgbClr val="14273B"/>
                </a:solidFill>
                <a:latin typeface="Arial"/>
                <a:ea typeface="Arial"/>
                <a:cs typeface="Arial"/>
              </a:rPr>
              <a:t>↓  Extract address, stride and timing features</a:t>
            </a:r>
          </a:p>
        </p:txBody>
      </p:sp>
      <p:sp>
        <p:nvSpPr>
          <p:cNvPr id="5" name="">
            <a:extLst xmlns:a="http://schemas.openxmlformats.org/drawingml/2006/main">
              <a:ext uri="{FF2B5EF4-FFF2-40B4-BE49-F238E27FC236}">
                <a16:creationId xmlns:a16="http://schemas.microsoft.com/office/drawing/2014/main" id="{8A06BFB1-483A-4C1F-838B-FC4E1CF31A0A}"/>
              </a:ext>
            </a:extLst>
          </p:cNvPr>
          <p:cNvSpPr>
            <a:spLocks xmlns:a="http://schemas.openxmlformats.org/drawingml/2006/main" noGrp="1"/>
          </p:cNvSpPr>
          <p:nvPr/>
        </p:nvSpPr>
        <p:spPr>
          <a:xfrm xmlns:a="http://schemas.openxmlformats.org/drawingml/2006/main">
            <a:off x="781050" y="3286125"/>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4273B"/>
                </a:solidFill>
                <a:latin typeface="Arial"/>
                <a:ea typeface="Arial"/>
                <a:cs typeface="Arial"/>
              </a:defRPr>
            </a:pPr>
            <a:r>
              <a:rPr sz="2100" b="0">
                <a:solidFill>
                  <a:srgbClr val="14273B"/>
                </a:solidFill>
                <a:latin typeface="Arial"/>
                <a:ea typeface="Arial"/>
                <a:cs typeface="Arial"/>
              </a:rPr>
              <a:t>↓  Predict sequential / strided / random / mixed</a:t>
            </a:r>
          </a:p>
        </p:txBody>
      </p:sp>
      <p:sp>
        <p:nvSpPr>
          <p:cNvPr id="6" name="">
            <a:extLst xmlns:a="http://schemas.openxmlformats.org/drawingml/2006/main">
              <a:ext uri="{FF2B5EF4-FFF2-40B4-BE49-F238E27FC236}">
                <a16:creationId xmlns:a16="http://schemas.microsoft.com/office/drawing/2014/main" id="{8F5A0BD9-E5F1-4A73-AB0E-5FC49E392C62}"/>
              </a:ext>
            </a:extLst>
          </p:cNvPr>
          <p:cNvSpPr>
            <a:spLocks xmlns:a="http://schemas.openxmlformats.org/drawingml/2006/main" noGrp="1"/>
          </p:cNvSpPr>
          <p:nvPr/>
        </p:nvSpPr>
        <p:spPr>
          <a:xfrm xmlns:a="http://schemas.openxmlformats.org/drawingml/2006/main">
            <a:off x="781050" y="39052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4273B"/>
                </a:solidFill>
                <a:latin typeface="Arial"/>
                <a:ea typeface="Arial"/>
                <a:cs typeface="Arial"/>
              </a:defRPr>
            </a:pPr>
            <a:r>
              <a:rPr sz="2100" b="0">
                <a:solidFill>
                  <a:srgbClr val="14273B"/>
                </a:solidFill>
                <a:latin typeface="Arial"/>
                <a:ea typeface="Arial"/>
                <a:cs typeface="Arial"/>
              </a:rPr>
              <a:t>↓  Select policy for subsequent requests</a:t>
            </a:r>
          </a:p>
        </p:txBody>
      </p:sp>
      <p:sp>
        <p:nvSpPr>
          <p:cNvPr id="7" name="">
            <a:extLst xmlns:a="http://schemas.openxmlformats.org/drawingml/2006/main">
              <a:ext uri="{FF2B5EF4-FFF2-40B4-BE49-F238E27FC236}">
                <a16:creationId xmlns:a16="http://schemas.microsoft.com/office/drawing/2014/main" id="{F672A194-D9E2-4226-B067-391A993DAC6B}"/>
              </a:ext>
            </a:extLst>
          </p:cNvPr>
          <p:cNvSpPr>
            <a:spLocks xmlns:a="http://schemas.openxmlformats.org/drawingml/2006/main" noGrp="1"/>
          </p:cNvSpPr>
          <p:nvPr/>
        </p:nvSpPr>
        <p:spPr>
          <a:xfrm xmlns:a="http://schemas.openxmlformats.org/drawingml/2006/main">
            <a:off x="781050" y="4524375"/>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4273B"/>
                </a:solidFill>
                <a:latin typeface="Arial"/>
                <a:ea typeface="Arial"/>
                <a:cs typeface="Arial"/>
              </a:defRPr>
            </a:pPr>
            <a:r>
              <a:rPr sz="2100" b="0">
                <a:solidFill>
                  <a:srgbClr val="14273B"/>
                </a:solidFill>
                <a:latin typeface="Arial"/>
                <a:ea typeface="Arial"/>
                <a:cs typeface="Arial"/>
              </a:rPr>
              <a:t>↓  Replay in LRU cache and measure outcomes</a:t>
            </a:r>
          </a:p>
        </p:txBody>
      </p:sp>
      <p:sp>
        <p:nvSpPr>
          <p:cNvPr id="8" name="">
            <a:extLst xmlns:a="http://schemas.openxmlformats.org/drawingml/2006/main">
              <a:ext uri="{FF2B5EF4-FFF2-40B4-BE49-F238E27FC236}">
                <a16:creationId xmlns:a16="http://schemas.microsoft.com/office/drawing/2014/main" id="{A6607824-56A0-4527-A438-5B27D161B7CA}"/>
              </a:ext>
            </a:extLst>
          </p:cNvPr>
          <p:cNvSpPr>
            <a:spLocks xmlns:a="http://schemas.openxmlformats.org/drawingml/2006/main" noGrp="1"/>
          </p:cNvSpPr>
          <p:nvPr/>
        </p:nvSpPr>
        <p:spPr>
          <a:xfrm xmlns:a="http://schemas.openxmlformats.org/drawingml/2006/main">
            <a:off x="781050" y="5524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769AA"/>
                </a:solidFill>
                <a:latin typeface="Arial"/>
                <a:ea typeface="Arial"/>
                <a:cs typeface="Arial"/>
              </a:defRPr>
            </a:pPr>
            <a:r>
              <a:rPr sz="1650" b="0">
                <a:solidFill>
                  <a:srgbClr val="1769AA"/>
                </a:solidFill>
                <a:latin typeface="Arial"/>
                <a:ea typeface="Arial"/>
                <a:cs typeface="Arial"/>
              </a:rPr>
              <a:t>No future requests are used to make an earlier decision</a:t>
            </a:r>
          </a:p>
        </p:txBody>
      </p:sp>
    </p:spTree>
    <p:extLst>
      <p:ext uri="{BB962C8B-B14F-4D97-AF65-F5344CB8AC3E}">
        <p14:creationId xmlns:p14="http://schemas.microsoft.com/office/powerpoint/2010/main" val="5394262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71F7DD-6AB9-497F-9F49-B0897033FFCE}"/>
              </a:ext>
            </a:extLst>
          </p:cNvPr>
          <p:cNvSpPr>
            <a:spLocks xmlns:a="http://schemas.openxmlformats.org/drawingml/2006/main" noGrp="1"/>
          </p:cNvSpPr>
          <p:nvPr/>
        </p:nvSpPr>
        <p:spPr>
          <a:xfrm xmlns:a="http://schemas.openxmlformats.org/drawingml/2006/main">
            <a:off x="723900" y="495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4273B"/>
                </a:solidFill>
                <a:latin typeface="Arial"/>
                <a:ea typeface="Arial"/>
                <a:cs typeface="Arial"/>
              </a:defRPr>
            </a:pPr>
            <a:r>
              <a:rPr sz="3150" b="1">
                <a:solidFill>
                  <a:srgbClr val="14273B"/>
                </a:solidFill>
                <a:latin typeface="Arial"/>
                <a:ea typeface="Arial"/>
                <a:cs typeface="Arial"/>
              </a:rPr>
              <a:t>Trace format and workload classes</a:t>
            </a:r>
          </a:p>
        </p:txBody>
      </p:sp>
      <p:sp>
        <p:nvSpPr>
          <p:cNvPr id="2" name="">
            <a:extLst xmlns:a="http://schemas.openxmlformats.org/drawingml/2006/main">
              <a:ext uri="{FF2B5EF4-FFF2-40B4-BE49-F238E27FC236}">
                <a16:creationId xmlns:a16="http://schemas.microsoft.com/office/drawing/2014/main" id="{CF33D230-FD00-4242-BA46-E85E7BF9FBC7}"/>
              </a:ext>
            </a:extLst>
          </p:cNvPr>
          <p:cNvSpPr>
            <a:spLocks xmlns:a="http://schemas.openxmlformats.org/drawingml/2006/main" noGrp="1"/>
          </p:cNvSpPr>
          <p:nvPr/>
        </p:nvSpPr>
        <p:spPr>
          <a:xfrm xmlns:a="http://schemas.openxmlformats.org/drawingml/2006/main">
            <a:off x="781050" y="1619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69AA"/>
                </a:solidFill>
                <a:latin typeface="Arial"/>
                <a:ea typeface="Arial"/>
                <a:cs typeface="Arial"/>
              </a:defRPr>
            </a:pPr>
            <a:r>
              <a:rPr sz="2025" b="1">
                <a:solidFill>
                  <a:srgbClr val="1769AA"/>
                </a:solidFill>
                <a:latin typeface="Arial"/>
                <a:ea typeface="Arial"/>
                <a:cs typeface="Arial"/>
              </a:rPr>
              <a:t>timestamp_ms    lba    size_blocks    operation    stream_id</a:t>
            </a:r>
          </a:p>
        </p:txBody>
      </p:sp>
      <p:sp>
        <p:nvSpPr>
          <p:cNvPr id="3" name="">
            <a:extLst xmlns:a="http://schemas.openxmlformats.org/drawingml/2006/main">
              <a:ext uri="{FF2B5EF4-FFF2-40B4-BE49-F238E27FC236}">
                <a16:creationId xmlns:a16="http://schemas.microsoft.com/office/drawing/2014/main" id="{C291154D-7509-4382-BAA4-7C1535D14066}"/>
              </a:ext>
            </a:extLst>
          </p:cNvPr>
          <p:cNvSpPr>
            <a:spLocks xmlns:a="http://schemas.openxmlformats.org/drawingml/2006/main" noGrp="1"/>
          </p:cNvSpPr>
          <p:nvPr/>
        </p:nvSpPr>
        <p:spPr>
          <a:xfrm xmlns:a="http://schemas.openxmlformats.org/drawingml/2006/main">
            <a:off x="781050" y="25717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4273B"/>
                </a:solidFill>
                <a:latin typeface="Arial"/>
                <a:ea typeface="Arial"/>
                <a:cs typeface="Arial"/>
              </a:defRPr>
            </a:pPr>
            <a:r>
              <a:rPr sz="2025" b="0">
                <a:solidFill>
                  <a:srgbClr val="14273B"/>
                </a:solidFill>
                <a:latin typeface="Arial"/>
                <a:ea typeface="Arial"/>
                <a:cs typeface="Arial"/>
              </a:rPr>
              <a:t>Sequential: adjacent requests follow request size</a:t>
            </a:r>
          </a:p>
        </p:txBody>
      </p:sp>
      <p:sp>
        <p:nvSpPr>
          <p:cNvPr id="4" name="">
            <a:extLst xmlns:a="http://schemas.openxmlformats.org/drawingml/2006/main">
              <a:ext uri="{FF2B5EF4-FFF2-40B4-BE49-F238E27FC236}">
                <a16:creationId xmlns:a16="http://schemas.microsoft.com/office/drawing/2014/main" id="{0BA954DF-6E87-4CBA-9B9C-FB8C1AD833E9}"/>
              </a:ext>
            </a:extLst>
          </p:cNvPr>
          <p:cNvSpPr>
            <a:spLocks xmlns:a="http://schemas.openxmlformats.org/drawingml/2006/main" noGrp="1"/>
          </p:cNvSpPr>
          <p:nvPr/>
        </p:nvSpPr>
        <p:spPr>
          <a:xfrm xmlns:a="http://schemas.openxmlformats.org/drawingml/2006/main">
            <a:off x="781050" y="32385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4273B"/>
                </a:solidFill>
                <a:latin typeface="Arial"/>
                <a:ea typeface="Arial"/>
                <a:cs typeface="Arial"/>
              </a:defRPr>
            </a:pPr>
            <a:r>
              <a:rPr sz="2025" b="0">
                <a:solidFill>
                  <a:srgbClr val="14273B"/>
                </a:solidFill>
                <a:latin typeface="Arial"/>
                <a:ea typeface="Arial"/>
                <a:cs typeface="Arial"/>
              </a:rPr>
              <a:t>Strided: a non-contiguous address gap repeats</a:t>
            </a:r>
          </a:p>
        </p:txBody>
      </p:sp>
      <p:sp>
        <p:nvSpPr>
          <p:cNvPr id="5" name="">
            <a:extLst xmlns:a="http://schemas.openxmlformats.org/drawingml/2006/main">
              <a:ext uri="{FF2B5EF4-FFF2-40B4-BE49-F238E27FC236}">
                <a16:creationId xmlns:a16="http://schemas.microsoft.com/office/drawing/2014/main" id="{11D80B88-2DA9-40F8-BF05-1AA9410C6892}"/>
              </a:ext>
            </a:extLst>
          </p:cNvPr>
          <p:cNvSpPr>
            <a:spLocks xmlns:a="http://schemas.openxmlformats.org/drawingml/2006/main" noGrp="1"/>
          </p:cNvSpPr>
          <p:nvPr/>
        </p:nvSpPr>
        <p:spPr>
          <a:xfrm xmlns:a="http://schemas.openxmlformats.org/drawingml/2006/main">
            <a:off x="781050" y="3905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4273B"/>
                </a:solidFill>
                <a:latin typeface="Arial"/>
                <a:ea typeface="Arial"/>
                <a:cs typeface="Arial"/>
              </a:defRPr>
            </a:pPr>
            <a:r>
              <a:rPr sz="2025" b="0">
                <a:solidFill>
                  <a:srgbClr val="14273B"/>
                </a:solidFill>
                <a:latin typeface="Arial"/>
                <a:ea typeface="Arial"/>
                <a:cs typeface="Arial"/>
              </a:rPr>
              <a:t>Random: address jumps vary widely</a:t>
            </a:r>
          </a:p>
        </p:txBody>
      </p:sp>
      <p:sp>
        <p:nvSpPr>
          <p:cNvPr id="6" name="">
            <a:extLst xmlns:a="http://schemas.openxmlformats.org/drawingml/2006/main">
              <a:ext uri="{FF2B5EF4-FFF2-40B4-BE49-F238E27FC236}">
                <a16:creationId xmlns:a16="http://schemas.microsoft.com/office/drawing/2014/main" id="{079FC55B-F663-46D5-A12F-AB591F299AC3}"/>
              </a:ext>
            </a:extLst>
          </p:cNvPr>
          <p:cNvSpPr>
            <a:spLocks xmlns:a="http://schemas.openxmlformats.org/drawingml/2006/main" noGrp="1"/>
          </p:cNvSpPr>
          <p:nvPr/>
        </p:nvSpPr>
        <p:spPr>
          <a:xfrm xmlns:a="http://schemas.openxmlformats.org/drawingml/2006/main">
            <a:off x="781050" y="45720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4273B"/>
                </a:solidFill>
                <a:latin typeface="Arial"/>
                <a:ea typeface="Arial"/>
                <a:cs typeface="Arial"/>
              </a:defRPr>
            </a:pPr>
            <a:r>
              <a:rPr sz="2025" b="0">
                <a:solidFill>
                  <a:srgbClr val="14273B"/>
                </a:solidFill>
                <a:latin typeface="Arial"/>
                <a:ea typeface="Arial"/>
                <a:cs typeface="Arial"/>
              </a:rPr>
              <a:t>Mixed: short local runs alternate with large jumps</a:t>
            </a:r>
          </a:p>
        </p:txBody>
      </p:sp>
      <p:sp>
        <p:nvSpPr>
          <p:cNvPr id="7" name="">
            <a:extLst xmlns:a="http://schemas.openxmlformats.org/drawingml/2006/main">
              <a:ext uri="{FF2B5EF4-FFF2-40B4-BE49-F238E27FC236}">
                <a16:creationId xmlns:a16="http://schemas.microsoft.com/office/drawing/2014/main" id="{BE77DA3F-3A16-4399-BCD1-C47F20F137FB}"/>
              </a:ext>
            </a:extLst>
          </p:cNvPr>
          <p:cNvSpPr>
            <a:spLocks xmlns:a="http://schemas.openxmlformats.org/drawingml/2006/main" noGrp="1"/>
          </p:cNvSpPr>
          <p:nvPr/>
        </p:nvSpPr>
        <p:spPr>
          <a:xfrm xmlns:a="http://schemas.openxmlformats.org/drawingml/2006/main">
            <a:off x="781050" y="55721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4B5B6A"/>
                </a:solidFill>
                <a:latin typeface="Arial"/>
                <a:ea typeface="Arial"/>
                <a:cs typeface="Arial"/>
              </a:defRPr>
            </a:pPr>
            <a:r>
              <a:rPr sz="1575" b="0">
                <a:solidFill>
                  <a:srgbClr val="4B5B6A"/>
                </a:solidFill>
                <a:latin typeface="Arial"/>
                <a:ea typeface="Arial"/>
                <a:cs typeface="Arial"/>
              </a:rPr>
              <a:t>Current model uses the aggregate stream. Per-process analysis remains future work</a:t>
            </a:r>
          </a:p>
        </p:txBody>
      </p:sp>
    </p:spTree>
    <p:extLst>
      <p:ext uri="{BB962C8B-B14F-4D97-AF65-F5344CB8AC3E}">
        <p14:creationId xmlns:p14="http://schemas.microsoft.com/office/powerpoint/2010/main" val="12878701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A9BEA5-27BB-4356-9C7F-013D76C47C9C}"/>
              </a:ext>
            </a:extLst>
          </p:cNvPr>
          <p:cNvSpPr>
            <a:spLocks xmlns:a="http://schemas.openxmlformats.org/drawingml/2006/main" noGrp="1"/>
          </p:cNvSpPr>
          <p:nvPr/>
        </p:nvSpPr>
        <p:spPr>
          <a:xfrm xmlns:a="http://schemas.openxmlformats.org/drawingml/2006/main">
            <a:off x="723900" y="495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4273B"/>
                </a:solidFill>
                <a:latin typeface="Arial"/>
                <a:ea typeface="Arial"/>
                <a:cs typeface="Arial"/>
              </a:defRPr>
            </a:pPr>
            <a:r>
              <a:rPr sz="3150" b="1">
                <a:solidFill>
                  <a:srgbClr val="14273B"/>
                </a:solidFill>
                <a:latin typeface="Arial"/>
                <a:ea typeface="Arial"/>
                <a:cs typeface="Arial"/>
              </a:rPr>
              <a:t>Incremental workload classifier</a:t>
            </a:r>
          </a:p>
        </p:txBody>
      </p:sp>
      <p:sp>
        <p:nvSpPr>
          <p:cNvPr id="2" name="">
            <a:extLst xmlns:a="http://schemas.openxmlformats.org/drawingml/2006/main">
              <a:ext uri="{FF2B5EF4-FFF2-40B4-BE49-F238E27FC236}">
                <a16:creationId xmlns:a16="http://schemas.microsoft.com/office/drawing/2014/main" id="{C3FF5517-4390-47E1-B507-C07F1E3F5447}"/>
              </a:ext>
            </a:extLst>
          </p:cNvPr>
          <p:cNvSpPr>
            <a:spLocks xmlns:a="http://schemas.openxmlformats.org/drawingml/2006/main" noGrp="1"/>
          </p:cNvSpPr>
          <p:nvPr/>
        </p:nvSpPr>
        <p:spPr>
          <a:xfrm xmlns:a="http://schemas.openxmlformats.org/drawingml/2006/main">
            <a:off x="781050" y="1571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769AA"/>
                </a:solidFill>
                <a:latin typeface="Arial"/>
                <a:ea typeface="Arial"/>
                <a:cs typeface="Arial"/>
              </a:defRPr>
            </a:pPr>
            <a:r>
              <a:rPr sz="2325" b="1">
                <a:solidFill>
                  <a:srgbClr val="1769AA"/>
                </a:solidFill>
                <a:latin typeface="Arial"/>
                <a:ea typeface="Arial"/>
                <a:cs typeface="Arial"/>
              </a:rPr>
              <a:t>Eight lightweight features per 32-request window</a:t>
            </a:r>
          </a:p>
        </p:txBody>
      </p:sp>
      <p:sp>
        <p:nvSpPr>
          <p:cNvPr id="3" name="">
            <a:extLst xmlns:a="http://schemas.openxmlformats.org/drawingml/2006/main">
              <a:ext uri="{FF2B5EF4-FFF2-40B4-BE49-F238E27FC236}">
                <a16:creationId xmlns:a16="http://schemas.microsoft.com/office/drawing/2014/main" id="{4C819B85-153A-445E-BA65-51B67329BA62}"/>
              </a:ext>
            </a:extLst>
          </p:cNvPr>
          <p:cNvSpPr>
            <a:spLocks xmlns:a="http://schemas.openxmlformats.org/drawingml/2006/main" noGrp="1"/>
          </p:cNvSpPr>
          <p:nvPr/>
        </p:nvSpPr>
        <p:spPr>
          <a:xfrm xmlns:a="http://schemas.openxmlformats.org/drawingml/2006/main">
            <a:off x="781050" y="24765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4273B"/>
                </a:solidFill>
                <a:latin typeface="Arial"/>
                <a:ea typeface="Arial"/>
                <a:cs typeface="Arial"/>
              </a:defRPr>
            </a:pPr>
            <a:r>
              <a:rPr sz="2025" b="0">
                <a:solidFill>
                  <a:srgbClr val="14273B"/>
                </a:solidFill>
                <a:latin typeface="Arial"/>
                <a:ea typeface="Arial"/>
                <a:cs typeface="Arial"/>
              </a:rPr>
              <a:t>Contiguous ratio, dominant stride, jump size, local runs</a:t>
            </a:r>
          </a:p>
        </p:txBody>
      </p:sp>
      <p:sp>
        <p:nvSpPr>
          <p:cNvPr id="4" name="">
            <a:extLst xmlns:a="http://schemas.openxmlformats.org/drawingml/2006/main">
              <a:ext uri="{FF2B5EF4-FFF2-40B4-BE49-F238E27FC236}">
                <a16:creationId xmlns:a16="http://schemas.microsoft.com/office/drawing/2014/main" id="{7393A20B-3B37-43B0-A9F0-3EC12EEA7907}"/>
              </a:ext>
            </a:extLst>
          </p:cNvPr>
          <p:cNvSpPr>
            <a:spLocks xmlns:a="http://schemas.openxmlformats.org/drawingml/2006/main" noGrp="1"/>
          </p:cNvSpPr>
          <p:nvPr/>
        </p:nvSpPr>
        <p:spPr>
          <a:xfrm xmlns:a="http://schemas.openxmlformats.org/drawingml/2006/main">
            <a:off x="781050" y="31908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4273B"/>
                </a:solidFill>
                <a:latin typeface="Arial"/>
                <a:ea typeface="Arial"/>
                <a:cs typeface="Arial"/>
              </a:defRPr>
            </a:pPr>
            <a:r>
              <a:rPr sz="2025" b="0">
                <a:solidFill>
                  <a:srgbClr val="14273B"/>
                </a:solidFill>
                <a:latin typeface="Arial"/>
                <a:ea typeface="Arial"/>
                <a:cs typeface="Arial"/>
              </a:rPr>
              <a:t>Unique addresses, timing variation, burst rate, read ratio</a:t>
            </a:r>
          </a:p>
        </p:txBody>
      </p:sp>
      <p:sp>
        <p:nvSpPr>
          <p:cNvPr id="5" name="">
            <a:extLst xmlns:a="http://schemas.openxmlformats.org/drawingml/2006/main">
              <a:ext uri="{FF2B5EF4-FFF2-40B4-BE49-F238E27FC236}">
                <a16:creationId xmlns:a16="http://schemas.microsoft.com/office/drawing/2014/main" id="{E81EA441-CAE2-4747-AE93-A017C0A05A4A}"/>
              </a:ext>
            </a:extLst>
          </p:cNvPr>
          <p:cNvSpPr>
            <a:spLocks xmlns:a="http://schemas.openxmlformats.org/drawingml/2006/main" noGrp="1"/>
          </p:cNvSpPr>
          <p:nvPr/>
        </p:nvSpPr>
        <p:spPr>
          <a:xfrm xmlns:a="http://schemas.openxmlformats.org/drawingml/2006/main">
            <a:off x="781050" y="41910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4273B"/>
                </a:solidFill>
                <a:latin typeface="Arial"/>
                <a:ea typeface="Arial"/>
                <a:cs typeface="Arial"/>
              </a:defRPr>
            </a:pPr>
            <a:r>
              <a:rPr sz="2175" b="0">
                <a:solidFill>
                  <a:srgbClr val="14273B"/>
                </a:solidFill>
                <a:latin typeface="Arial"/>
                <a:ea typeface="Arial"/>
                <a:cs typeface="Arial"/>
              </a:rPr>
              <a:t>Online Gaussian Naive Bayes updates from labelled windows</a:t>
            </a:r>
          </a:p>
        </p:txBody>
      </p:sp>
      <p:sp>
        <p:nvSpPr>
          <p:cNvPr id="6" name="">
            <a:extLst xmlns:a="http://schemas.openxmlformats.org/drawingml/2006/main">
              <a:ext uri="{FF2B5EF4-FFF2-40B4-BE49-F238E27FC236}">
                <a16:creationId xmlns:a16="http://schemas.microsoft.com/office/drawing/2014/main" id="{4D577D3C-9F8D-446E-9DDA-20B00C71F78E}"/>
              </a:ext>
            </a:extLst>
          </p:cNvPr>
          <p:cNvSpPr>
            <a:spLocks xmlns:a="http://schemas.openxmlformats.org/drawingml/2006/main" noGrp="1"/>
          </p:cNvSpPr>
          <p:nvPr/>
        </p:nvSpPr>
        <p:spPr>
          <a:xfrm xmlns:a="http://schemas.openxmlformats.org/drawingml/2006/main">
            <a:off x="781050" y="52863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B5B6A"/>
                </a:solidFill>
                <a:latin typeface="Arial"/>
                <a:ea typeface="Arial"/>
                <a:cs typeface="Arial"/>
              </a:defRPr>
            </a:pPr>
            <a:r>
              <a:rPr sz="1725" b="0">
                <a:solidFill>
                  <a:srgbClr val="4B5B6A"/>
                </a:solidFill>
                <a:latin typeface="Arial"/>
                <a:ea typeface="Arial"/>
                <a:cs typeface="Arial"/>
              </a:rPr>
              <a:t>Real, unlabelled traces run with updates disabled</a:t>
            </a:r>
          </a:p>
        </p:txBody>
      </p:sp>
    </p:spTree>
    <p:extLst>
      <p:ext uri="{BB962C8B-B14F-4D97-AF65-F5344CB8AC3E}">
        <p14:creationId xmlns:p14="http://schemas.microsoft.com/office/powerpoint/2010/main" val="5127915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05AC5F-BEDD-426A-B660-EE1F46F51700}"/>
              </a:ext>
            </a:extLst>
          </p:cNvPr>
          <p:cNvSpPr>
            <a:spLocks xmlns:a="http://schemas.openxmlformats.org/drawingml/2006/main" noGrp="1"/>
          </p:cNvSpPr>
          <p:nvPr/>
        </p:nvSpPr>
        <p:spPr>
          <a:xfrm xmlns:a="http://schemas.openxmlformats.org/drawingml/2006/main">
            <a:off x="723900" y="495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4273B"/>
                </a:solidFill>
                <a:latin typeface="Arial"/>
                <a:ea typeface="Arial"/>
                <a:cs typeface="Arial"/>
              </a:defRPr>
            </a:pPr>
            <a:r>
              <a:rPr sz="3150" b="1">
                <a:solidFill>
                  <a:srgbClr val="14273B"/>
                </a:solidFill>
                <a:latin typeface="Arial"/>
                <a:ea typeface="Arial"/>
                <a:cs typeface="Arial"/>
              </a:rPr>
              <a:t>Policy selection and cache replay</a:t>
            </a:r>
          </a:p>
        </p:txBody>
      </p:sp>
      <p:sp>
        <p:nvSpPr>
          <p:cNvPr id="2" name="">
            <a:extLst xmlns:a="http://schemas.openxmlformats.org/drawingml/2006/main">
              <a:ext uri="{FF2B5EF4-FFF2-40B4-BE49-F238E27FC236}">
                <a16:creationId xmlns:a16="http://schemas.microsoft.com/office/drawing/2014/main" id="{2C47D29D-49CF-43B8-B347-5A0099A06E2A}"/>
              </a:ext>
            </a:extLst>
          </p:cNvPr>
          <p:cNvSpPr>
            <a:spLocks xmlns:a="http://schemas.openxmlformats.org/drawingml/2006/main" noGrp="1"/>
          </p:cNvSpPr>
          <p:nvPr/>
        </p:nvSpPr>
        <p:spPr>
          <a:xfrm xmlns:a="http://schemas.openxmlformats.org/drawingml/2006/main">
            <a:off x="781050" y="157162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4273B"/>
                </a:solidFill>
                <a:latin typeface="Arial"/>
                <a:ea typeface="Arial"/>
                <a:cs typeface="Arial"/>
              </a:defRPr>
            </a:pPr>
            <a:r>
              <a:rPr sz="2175" b="0">
                <a:solidFill>
                  <a:srgbClr val="14273B"/>
                </a:solidFill>
                <a:latin typeface="Arial"/>
                <a:ea typeface="Arial"/>
                <a:cs typeface="Arial"/>
              </a:rPr>
              <a:t>Sequential      Read ahead by two blocks</a:t>
            </a:r>
          </a:p>
        </p:txBody>
      </p:sp>
      <p:sp>
        <p:nvSpPr>
          <p:cNvPr id="3" name="">
            <a:extLst xmlns:a="http://schemas.openxmlformats.org/drawingml/2006/main">
              <a:ext uri="{FF2B5EF4-FFF2-40B4-BE49-F238E27FC236}">
                <a16:creationId xmlns:a16="http://schemas.microsoft.com/office/drawing/2014/main" id="{11441FAD-0F84-4E74-B0B9-05FC394135A1}"/>
              </a:ext>
            </a:extLst>
          </p:cNvPr>
          <p:cNvSpPr>
            <a:spLocks xmlns:a="http://schemas.openxmlformats.org/drawingml/2006/main" noGrp="1"/>
          </p:cNvSpPr>
          <p:nvPr/>
        </p:nvSpPr>
        <p:spPr>
          <a:xfrm xmlns:a="http://schemas.openxmlformats.org/drawingml/2006/main">
            <a:off x="781050" y="233362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4273B"/>
                </a:solidFill>
                <a:latin typeface="Arial"/>
                <a:ea typeface="Arial"/>
                <a:cs typeface="Arial"/>
              </a:defRPr>
            </a:pPr>
            <a:r>
              <a:rPr sz="2175" b="0">
                <a:solidFill>
                  <a:srgbClr val="14273B"/>
                </a:solidFill>
                <a:latin typeface="Arial"/>
                <a:ea typeface="Arial"/>
                <a:cs typeface="Arial"/>
              </a:rPr>
              <a:t>Strided              Follow the detected stride</a:t>
            </a:r>
          </a:p>
        </p:txBody>
      </p:sp>
      <p:sp>
        <p:nvSpPr>
          <p:cNvPr id="4" name="">
            <a:extLst xmlns:a="http://schemas.openxmlformats.org/drawingml/2006/main">
              <a:ext uri="{FF2B5EF4-FFF2-40B4-BE49-F238E27FC236}">
                <a16:creationId xmlns:a16="http://schemas.microsoft.com/office/drawing/2014/main" id="{154D0916-6972-4733-BB1C-39BF8398D122}"/>
              </a:ext>
            </a:extLst>
          </p:cNvPr>
          <p:cNvSpPr>
            <a:spLocks xmlns:a="http://schemas.openxmlformats.org/drawingml/2006/main" noGrp="1"/>
          </p:cNvSpPr>
          <p:nvPr/>
        </p:nvSpPr>
        <p:spPr>
          <a:xfrm xmlns:a="http://schemas.openxmlformats.org/drawingml/2006/main">
            <a:off x="781050" y="309562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4273B"/>
                </a:solidFill>
                <a:latin typeface="Arial"/>
                <a:ea typeface="Arial"/>
                <a:cs typeface="Arial"/>
              </a:defRPr>
            </a:pPr>
            <a:r>
              <a:rPr sz="2175" b="0">
                <a:solidFill>
                  <a:srgbClr val="14273B"/>
                </a:solidFill>
                <a:latin typeface="Arial"/>
                <a:ea typeface="Arial"/>
                <a:cs typeface="Arial"/>
              </a:rPr>
              <a:t>Random            Issue no prefetch</a:t>
            </a:r>
          </a:p>
        </p:txBody>
      </p:sp>
      <p:sp>
        <p:nvSpPr>
          <p:cNvPr id="5" name="">
            <a:extLst xmlns:a="http://schemas.openxmlformats.org/drawingml/2006/main">
              <a:ext uri="{FF2B5EF4-FFF2-40B4-BE49-F238E27FC236}">
                <a16:creationId xmlns:a16="http://schemas.microsoft.com/office/drawing/2014/main" id="{57ACFB84-560E-4C71-A550-EEBC07222A09}"/>
              </a:ext>
            </a:extLst>
          </p:cNvPr>
          <p:cNvSpPr>
            <a:spLocks xmlns:a="http://schemas.openxmlformats.org/drawingml/2006/main" noGrp="1"/>
          </p:cNvSpPr>
          <p:nvPr/>
        </p:nvSpPr>
        <p:spPr>
          <a:xfrm xmlns:a="http://schemas.openxmlformats.org/drawingml/2006/main">
            <a:off x="781050" y="385762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4273B"/>
                </a:solidFill>
                <a:latin typeface="Arial"/>
                <a:ea typeface="Arial"/>
                <a:cs typeface="Arial"/>
              </a:defRPr>
            </a:pPr>
            <a:r>
              <a:rPr sz="2175" b="0">
                <a:solidFill>
                  <a:srgbClr val="14273B"/>
                </a:solidFill>
                <a:latin typeface="Arial"/>
                <a:ea typeface="Arial"/>
                <a:cs typeface="Arial"/>
              </a:rPr>
              <a:t>Mixed                Conservative one-block read ahead</a:t>
            </a:r>
          </a:p>
        </p:txBody>
      </p:sp>
      <p:sp>
        <p:nvSpPr>
          <p:cNvPr id="6" name="">
            <a:extLst xmlns:a="http://schemas.openxmlformats.org/drawingml/2006/main">
              <a:ext uri="{FF2B5EF4-FFF2-40B4-BE49-F238E27FC236}">
                <a16:creationId xmlns:a16="http://schemas.microsoft.com/office/drawing/2014/main" id="{BF07AE7A-F526-452F-8700-3746AB238505}"/>
              </a:ext>
            </a:extLst>
          </p:cNvPr>
          <p:cNvSpPr>
            <a:spLocks xmlns:a="http://schemas.openxmlformats.org/drawingml/2006/main" noGrp="1"/>
          </p:cNvSpPr>
          <p:nvPr/>
        </p:nvSpPr>
        <p:spPr>
          <a:xfrm xmlns:a="http://schemas.openxmlformats.org/drawingml/2006/main">
            <a:off x="781050" y="5191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769AA"/>
                </a:solidFill>
                <a:latin typeface="Arial"/>
                <a:ea typeface="Arial"/>
                <a:cs typeface="Arial"/>
              </a:defRPr>
            </a:pPr>
            <a:r>
              <a:rPr sz="1800" b="0">
                <a:solidFill>
                  <a:srgbClr val="1769AA"/>
                </a:solidFill>
                <a:latin typeface="Arial"/>
                <a:ea typeface="Arial"/>
                <a:cs typeface="Arial"/>
              </a:rPr>
              <a:t>Same requests and LRU capacity for every comparison</a:t>
            </a:r>
          </a:p>
        </p:txBody>
      </p:sp>
    </p:spTree>
    <p:extLst>
      <p:ext uri="{BB962C8B-B14F-4D97-AF65-F5344CB8AC3E}">
        <p14:creationId xmlns:p14="http://schemas.microsoft.com/office/powerpoint/2010/main" val="17134334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DE788E-6752-4BF5-A566-24A925EF1650}"/>
              </a:ext>
            </a:extLst>
          </p:cNvPr>
          <p:cNvSpPr>
            <a:spLocks xmlns:a="http://schemas.openxmlformats.org/drawingml/2006/main" noGrp="1"/>
          </p:cNvSpPr>
          <p:nvPr/>
        </p:nvSpPr>
        <p:spPr>
          <a:xfrm xmlns:a="http://schemas.openxmlformats.org/drawingml/2006/main">
            <a:off x="723900" y="495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4273B"/>
                </a:solidFill>
                <a:latin typeface="Arial"/>
                <a:ea typeface="Arial"/>
                <a:cs typeface="Arial"/>
              </a:defRPr>
            </a:pPr>
            <a:r>
              <a:rPr sz="3150" b="1">
                <a:solidFill>
                  <a:srgbClr val="14273B"/>
                </a:solidFill>
                <a:latin typeface="Arial"/>
                <a:ea typeface="Arial"/>
                <a:cs typeface="Arial"/>
              </a:rPr>
              <a:t>Implemented modules</a:t>
            </a:r>
          </a:p>
        </p:txBody>
      </p:sp>
      <p:sp>
        <p:nvSpPr>
          <p:cNvPr id="2" name="">
            <a:extLst xmlns:a="http://schemas.openxmlformats.org/drawingml/2006/main">
              <a:ext uri="{FF2B5EF4-FFF2-40B4-BE49-F238E27FC236}">
                <a16:creationId xmlns:a16="http://schemas.microsoft.com/office/drawing/2014/main" id="{1150A71E-4800-4F86-8CCE-F9836A856007}"/>
              </a:ext>
            </a:extLst>
          </p:cNvPr>
          <p:cNvSpPr>
            <a:spLocks xmlns:a="http://schemas.openxmlformats.org/drawingml/2006/main" noGrp="1"/>
          </p:cNvSpPr>
          <p:nvPr/>
        </p:nvSpPr>
        <p:spPr>
          <a:xfrm xmlns:a="http://schemas.openxmlformats.org/drawingml/2006/main">
            <a:off x="781050" y="14763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4273B"/>
                </a:solidFill>
                <a:latin typeface="Arial"/>
                <a:ea typeface="Arial"/>
                <a:cs typeface="Arial"/>
              </a:defRPr>
            </a:pPr>
            <a:r>
              <a:rPr sz="2100" b="0">
                <a:solidFill>
                  <a:srgbClr val="14273B"/>
                </a:solidFill>
                <a:latin typeface="Arial"/>
                <a:ea typeface="Arial"/>
                <a:cs typeface="Arial"/>
              </a:rPr>
              <a:t>Trace generator and validated CSV parser</a:t>
            </a:r>
          </a:p>
        </p:txBody>
      </p:sp>
      <p:sp>
        <p:nvSpPr>
          <p:cNvPr id="3" name="">
            <a:extLst xmlns:a="http://schemas.openxmlformats.org/drawingml/2006/main">
              <a:ext uri="{FF2B5EF4-FFF2-40B4-BE49-F238E27FC236}">
                <a16:creationId xmlns:a16="http://schemas.microsoft.com/office/drawing/2014/main" id="{E28831B5-040D-4C3A-88A7-863DFCA4C8BA}"/>
              </a:ext>
            </a:extLst>
          </p:cNvPr>
          <p:cNvSpPr>
            <a:spLocks xmlns:a="http://schemas.openxmlformats.org/drawingml/2006/main" noGrp="1"/>
          </p:cNvSpPr>
          <p:nvPr/>
        </p:nvSpPr>
        <p:spPr>
          <a:xfrm xmlns:a="http://schemas.openxmlformats.org/drawingml/2006/main">
            <a:off x="781050" y="21431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4273B"/>
                </a:solidFill>
                <a:latin typeface="Arial"/>
                <a:ea typeface="Arial"/>
                <a:cs typeface="Arial"/>
              </a:defRPr>
            </a:pPr>
            <a:r>
              <a:rPr sz="2100" b="0">
                <a:solidFill>
                  <a:srgbClr val="14273B"/>
                </a:solidFill>
                <a:latin typeface="Arial"/>
                <a:ea typeface="Arial"/>
                <a:cs typeface="Arial"/>
              </a:rPr>
              <a:t>Window features and incremental classifier</a:t>
            </a:r>
          </a:p>
        </p:txBody>
      </p:sp>
      <p:sp>
        <p:nvSpPr>
          <p:cNvPr id="4" name="">
            <a:extLst xmlns:a="http://schemas.openxmlformats.org/drawingml/2006/main">
              <a:ext uri="{FF2B5EF4-FFF2-40B4-BE49-F238E27FC236}">
                <a16:creationId xmlns:a16="http://schemas.microsoft.com/office/drawing/2014/main" id="{9A4C57CA-9730-4001-92D1-8E16811C87C7}"/>
              </a:ext>
            </a:extLst>
          </p:cNvPr>
          <p:cNvSpPr>
            <a:spLocks xmlns:a="http://schemas.openxmlformats.org/drawingml/2006/main" noGrp="1"/>
          </p:cNvSpPr>
          <p:nvPr/>
        </p:nvSpPr>
        <p:spPr>
          <a:xfrm xmlns:a="http://schemas.openxmlformats.org/drawingml/2006/main">
            <a:off x="781050" y="28098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4273B"/>
                </a:solidFill>
                <a:latin typeface="Arial"/>
                <a:ea typeface="Arial"/>
                <a:cs typeface="Arial"/>
              </a:defRPr>
            </a:pPr>
            <a:r>
              <a:rPr sz="2100" b="0">
                <a:solidFill>
                  <a:srgbClr val="14273B"/>
                </a:solidFill>
                <a:latin typeface="Arial"/>
                <a:ea typeface="Arial"/>
                <a:cs typeface="Arial"/>
              </a:rPr>
              <a:t>Prefetch policy routing and LRU cache simulator</a:t>
            </a:r>
          </a:p>
        </p:txBody>
      </p:sp>
      <p:sp>
        <p:nvSpPr>
          <p:cNvPr id="5" name="">
            <a:extLst xmlns:a="http://schemas.openxmlformats.org/drawingml/2006/main">
              <a:ext uri="{FF2B5EF4-FFF2-40B4-BE49-F238E27FC236}">
                <a16:creationId xmlns:a16="http://schemas.microsoft.com/office/drawing/2014/main" id="{0BE51611-6754-412E-9331-70073B51B8BB}"/>
              </a:ext>
            </a:extLst>
          </p:cNvPr>
          <p:cNvSpPr>
            <a:spLocks xmlns:a="http://schemas.openxmlformats.org/drawingml/2006/main" noGrp="1"/>
          </p:cNvSpPr>
          <p:nvPr/>
        </p:nvSpPr>
        <p:spPr>
          <a:xfrm xmlns:a="http://schemas.openxmlformats.org/drawingml/2006/main">
            <a:off x="781050" y="3476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4273B"/>
                </a:solidFill>
                <a:latin typeface="Arial"/>
                <a:ea typeface="Arial"/>
                <a:cs typeface="Arial"/>
              </a:defRPr>
            </a:pPr>
            <a:r>
              <a:rPr sz="2100" b="0">
                <a:solidFill>
                  <a:srgbClr val="14273B"/>
                </a:solidFill>
                <a:latin typeface="Arial"/>
                <a:ea typeface="Arial"/>
                <a:cs typeface="Arial"/>
              </a:rPr>
              <a:t>No-prefetch, fixed read-ahead, fixed-stride baselines</a:t>
            </a:r>
          </a:p>
        </p:txBody>
      </p:sp>
      <p:sp>
        <p:nvSpPr>
          <p:cNvPr id="6" name="">
            <a:extLst xmlns:a="http://schemas.openxmlformats.org/drawingml/2006/main">
              <a:ext uri="{FF2B5EF4-FFF2-40B4-BE49-F238E27FC236}">
                <a16:creationId xmlns:a16="http://schemas.microsoft.com/office/drawing/2014/main" id="{DFE1F886-EECF-4640-8451-B67AA32C363D}"/>
              </a:ext>
            </a:extLst>
          </p:cNvPr>
          <p:cNvSpPr>
            <a:spLocks xmlns:a="http://schemas.openxmlformats.org/drawingml/2006/main" noGrp="1"/>
          </p:cNvSpPr>
          <p:nvPr/>
        </p:nvSpPr>
        <p:spPr>
          <a:xfrm xmlns:a="http://schemas.openxmlformats.org/drawingml/2006/main">
            <a:off x="781050" y="4524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769AA"/>
                </a:solidFill>
                <a:latin typeface="Arial"/>
                <a:ea typeface="Arial"/>
                <a:cs typeface="Arial"/>
              </a:defRPr>
            </a:pPr>
            <a:r>
              <a:rPr sz="1950" b="1">
                <a:solidFill>
                  <a:srgbClr val="1769AA"/>
                </a:solidFill>
                <a:latin typeface="Arial"/>
                <a:ea typeface="Arial"/>
                <a:cs typeface="Arial"/>
              </a:rPr>
              <a:t>11 automated tests passed in the current build</a:t>
            </a:r>
          </a:p>
        </p:txBody>
      </p:sp>
      <p:sp>
        <p:nvSpPr>
          <p:cNvPr id="7" name="">
            <a:extLst xmlns:a="http://schemas.openxmlformats.org/drawingml/2006/main">
              <a:ext uri="{FF2B5EF4-FFF2-40B4-BE49-F238E27FC236}">
                <a16:creationId xmlns:a16="http://schemas.microsoft.com/office/drawing/2014/main" id="{9D6A9ECA-9635-4201-81E2-B3DB3807C3C8}"/>
              </a:ext>
            </a:extLst>
          </p:cNvPr>
          <p:cNvSpPr>
            <a:spLocks xmlns:a="http://schemas.openxmlformats.org/drawingml/2006/main" noGrp="1"/>
          </p:cNvSpPr>
          <p:nvPr/>
        </p:nvSpPr>
        <p:spPr>
          <a:xfrm xmlns:a="http://schemas.openxmlformats.org/drawingml/2006/main">
            <a:off x="781050" y="5381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B5B6A"/>
                </a:solidFill>
                <a:latin typeface="Arial"/>
                <a:ea typeface="Arial"/>
                <a:cs typeface="Arial"/>
              </a:defRPr>
            </a:pPr>
            <a:r>
              <a:rPr sz="1650" b="0">
                <a:solidFill>
                  <a:srgbClr val="4B5B6A"/>
                </a:solidFill>
                <a:latin typeface="Arial"/>
                <a:ea typeface="Arial"/>
                <a:cs typeface="Arial"/>
              </a:rPr>
              <a:t>Public-trace conversion and kernel I/O integration: pending</a:t>
            </a:r>
          </a:p>
        </p:txBody>
      </p:sp>
    </p:spTree>
    <p:extLst>
      <p:ext uri="{BB962C8B-B14F-4D97-AF65-F5344CB8AC3E}">
        <p14:creationId xmlns:p14="http://schemas.microsoft.com/office/powerpoint/2010/main" val="11127448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5F5973-066B-4C13-B044-A7C666B35E28}"/>
              </a:ext>
            </a:extLst>
          </p:cNvPr>
          <p:cNvSpPr>
            <a:spLocks xmlns:a="http://schemas.openxmlformats.org/drawingml/2006/main" noGrp="1"/>
          </p:cNvSpPr>
          <p:nvPr/>
        </p:nvSpPr>
        <p:spPr>
          <a:xfrm xmlns:a="http://schemas.openxmlformats.org/drawingml/2006/main">
            <a:off x="723900" y="495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4273B"/>
                </a:solidFill>
                <a:latin typeface="Arial"/>
                <a:ea typeface="Arial"/>
                <a:cs typeface="Arial"/>
              </a:defRPr>
            </a:pPr>
            <a:r>
              <a:rPr sz="3150" b="1">
                <a:solidFill>
                  <a:srgbClr val="14273B"/>
                </a:solidFill>
                <a:latin typeface="Arial"/>
                <a:ea typeface="Arial"/>
                <a:cs typeface="Arial"/>
              </a:rPr>
              <a:t>Synthetic test results</a:t>
            </a:r>
          </a:p>
        </p:txBody>
      </p:sp>
      <p:graphicFrame>
        <p:nvGraphicFramePr>
          <p:cNvPr id="6" name="Chart"/>
          <p:cNvGraphicFramePr/>
          <p:nvPr/>
        </p:nvGraphicFramePr>
        <p:xfrm>
          <a:off xmlns:a="http://schemas.openxmlformats.org/drawingml/2006/main" x="714375" y="1666875"/>
          <a:ext xmlns:a="http://schemas.openxmlformats.org/drawingml/2006/main" cx="10477500" cy="3048000"/>
        </p:xfrm>
        <a:graphic xmlns:a="http://schemas.openxmlformats.org/drawingml/2006/main">
          <a:graphicData uri="http://schemas.openxmlformats.org/drawingml/2006/chart">
            <c:chart xmlns:r="http://schemas.openxmlformats.org/officeDocument/2006/relationships" xmlns:c="http://schemas.openxmlformats.org/drawingml/2006/chart" r:id="R116f1b556a9c4f12"/>
          </a:graphicData>
        </a:graphic>
      </p:graphicFrame>
      <p:sp>
        <p:nvSpPr>
          <p:cNvPr id="3" name="">
            <a:extLst xmlns:a="http://schemas.openxmlformats.org/drawingml/2006/main">
              <a:ext uri="{FF2B5EF4-FFF2-40B4-BE49-F238E27FC236}">
                <a16:creationId xmlns:a16="http://schemas.microsoft.com/office/drawing/2014/main" id="{2A2CA0A3-040F-4E1C-B5C7-ABC3BEDD019F}"/>
              </a:ext>
            </a:extLst>
          </p:cNvPr>
          <p:cNvSpPr>
            <a:spLocks xmlns:a="http://schemas.openxmlformats.org/drawingml/2006/main" noGrp="1"/>
          </p:cNvSpPr>
          <p:nvPr/>
        </p:nvSpPr>
        <p:spPr>
          <a:xfrm xmlns:a="http://schemas.openxmlformats.org/drawingml/2006/main">
            <a:off x="762000" y="50958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14273B"/>
                </a:solidFill>
                <a:latin typeface="Arial"/>
                <a:ea typeface="Arial"/>
                <a:cs typeface="Arial"/>
              </a:defRPr>
            </a:pPr>
            <a:r>
              <a:rPr sz="1875" b="1">
                <a:solidFill>
                  <a:srgbClr val="14273B"/>
                </a:solidFill>
                <a:latin typeface="Arial"/>
                <a:ea typeface="Arial"/>
                <a:cs typeface="Arial"/>
              </a:rPr>
              <a:t>Unused prefetches: read ahead 628, adaptive 174</a:t>
            </a:r>
          </a:p>
        </p:txBody>
      </p:sp>
      <p:sp>
        <p:nvSpPr>
          <p:cNvPr id="4" name="">
            <a:extLst xmlns:a="http://schemas.openxmlformats.org/drawingml/2006/main">
              <a:ext uri="{FF2B5EF4-FFF2-40B4-BE49-F238E27FC236}">
                <a16:creationId xmlns:a16="http://schemas.microsoft.com/office/drawing/2014/main" id="{814EE37A-841C-4A98-AE20-7302FBD9D4E7}"/>
              </a:ext>
            </a:extLst>
          </p:cNvPr>
          <p:cNvSpPr>
            <a:spLocks xmlns:a="http://schemas.openxmlformats.org/drawingml/2006/main" noGrp="1"/>
          </p:cNvSpPr>
          <p:nvPr/>
        </p:nvSpPr>
        <p:spPr>
          <a:xfrm xmlns:a="http://schemas.openxmlformats.org/drawingml/2006/main">
            <a:off x="762000" y="57626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B5B6A"/>
                </a:solidFill>
                <a:latin typeface="Arial"/>
                <a:ea typeface="Arial"/>
                <a:cs typeface="Arial"/>
              </a:defRPr>
            </a:pPr>
            <a:r>
              <a:rPr sz="1500" b="0">
                <a:solidFill>
                  <a:srgbClr val="4B5B6A"/>
                </a:solidFill>
                <a:latin typeface="Arial"/>
                <a:ea typeface="Arial"/>
                <a:cs typeface="Arial"/>
              </a:rPr>
              <a:t>160/160 synthetic held-out windows classified correctly; no real-trace claim</a:t>
            </a:r>
          </a:p>
        </p:txBody>
      </p:sp>
    </p:spTree>
    <p:extLst>
      <p:ext uri="{BB962C8B-B14F-4D97-AF65-F5344CB8AC3E}">
        <p14:creationId xmlns:p14="http://schemas.microsoft.com/office/powerpoint/2010/main" val="177846364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88ABFB-9A52-4913-9FA4-705F49CDBFF3}"/>
              </a:ext>
            </a:extLst>
          </p:cNvPr>
          <p:cNvSpPr>
            <a:spLocks xmlns:a="http://schemas.openxmlformats.org/drawingml/2006/main" noGrp="1"/>
          </p:cNvSpPr>
          <p:nvPr/>
        </p:nvSpPr>
        <p:spPr>
          <a:xfrm xmlns:a="http://schemas.openxmlformats.org/drawingml/2006/main">
            <a:off x="723900" y="4953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4273B"/>
                </a:solidFill>
                <a:latin typeface="Arial"/>
                <a:ea typeface="Arial"/>
                <a:cs typeface="Arial"/>
              </a:defRPr>
            </a:pPr>
            <a:r>
              <a:rPr sz="3150" b="1">
                <a:solidFill>
                  <a:srgbClr val="14273B"/>
                </a:solidFill>
                <a:latin typeface="Arial"/>
                <a:ea typeface="Arial"/>
                <a:cs typeface="Arial"/>
              </a:rPr>
              <a:t>Live demo and current limits</a:t>
            </a:r>
          </a:p>
        </p:txBody>
      </p:sp>
      <p:sp>
        <p:nvSpPr>
          <p:cNvPr id="2" name="">
            <a:extLst xmlns:a="http://schemas.openxmlformats.org/drawingml/2006/main">
              <a:ext uri="{FF2B5EF4-FFF2-40B4-BE49-F238E27FC236}">
                <a16:creationId xmlns:a16="http://schemas.microsoft.com/office/drawing/2014/main" id="{A9CCE61C-089E-4083-BB3B-862AFAD3192C}"/>
              </a:ext>
            </a:extLst>
          </p:cNvPr>
          <p:cNvSpPr>
            <a:spLocks xmlns:a="http://schemas.openxmlformats.org/drawingml/2006/main" noGrp="1"/>
          </p:cNvSpPr>
          <p:nvPr/>
        </p:nvSpPr>
        <p:spPr>
          <a:xfrm xmlns:a="http://schemas.openxmlformats.org/drawingml/2006/main">
            <a:off x="781050" y="1571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769AA"/>
                </a:solidFill>
                <a:latin typeface="Arial"/>
                <a:ea typeface="Arial"/>
                <a:cs typeface="Arial"/>
              </a:defRPr>
            </a:pPr>
            <a:r>
              <a:rPr sz="2325" b="1">
                <a:solidFill>
                  <a:srgbClr val="1769AA"/>
                </a:solidFill>
                <a:latin typeface="Arial"/>
                <a:ea typeface="Arial"/>
                <a:cs typeface="Arial"/>
              </a:rPr>
              <a:t>.\run_review2.ps1</a:t>
            </a:r>
          </a:p>
        </p:txBody>
      </p:sp>
      <p:sp>
        <p:nvSpPr>
          <p:cNvPr id="3" name="">
            <a:extLst xmlns:a="http://schemas.openxmlformats.org/drawingml/2006/main">
              <a:ext uri="{FF2B5EF4-FFF2-40B4-BE49-F238E27FC236}">
                <a16:creationId xmlns:a16="http://schemas.microsoft.com/office/drawing/2014/main" id="{13E6140A-5FD8-4A84-AA5C-4D7E9AC43367}"/>
              </a:ext>
            </a:extLst>
          </p:cNvPr>
          <p:cNvSpPr>
            <a:spLocks xmlns:a="http://schemas.openxmlformats.org/drawingml/2006/main" noGrp="1"/>
          </p:cNvSpPr>
          <p:nvPr/>
        </p:nvSpPr>
        <p:spPr>
          <a:xfrm xmlns:a="http://schemas.openxmlformats.org/drawingml/2006/main">
            <a:off x="781050" y="2238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4273B"/>
                </a:solidFill>
                <a:latin typeface="Arial"/>
                <a:ea typeface="Arial"/>
                <a:cs typeface="Arial"/>
              </a:defRPr>
            </a:pPr>
            <a:r>
              <a:rPr sz="2100" b="1">
                <a:solidFill>
                  <a:srgbClr val="14273B"/>
                </a:solidFill>
                <a:latin typeface="Arial"/>
                <a:ea typeface="Arial"/>
                <a:cs typeface="Arial"/>
              </a:rPr>
              <a:t>.\run_review2.ps1 -Test</a:t>
            </a:r>
          </a:p>
        </p:txBody>
      </p:sp>
      <p:sp>
        <p:nvSpPr>
          <p:cNvPr id="4" name="">
            <a:extLst xmlns:a="http://schemas.openxmlformats.org/drawingml/2006/main">
              <a:ext uri="{FF2B5EF4-FFF2-40B4-BE49-F238E27FC236}">
                <a16:creationId xmlns:a16="http://schemas.microsoft.com/office/drawing/2014/main" id="{EFE2423F-75A8-4696-9EB0-6ACB936D2D0D}"/>
              </a:ext>
            </a:extLst>
          </p:cNvPr>
          <p:cNvSpPr>
            <a:spLocks xmlns:a="http://schemas.openxmlformats.org/drawingml/2006/main" noGrp="1"/>
          </p:cNvSpPr>
          <p:nvPr/>
        </p:nvSpPr>
        <p:spPr>
          <a:xfrm xmlns:a="http://schemas.openxmlformats.org/drawingml/2006/main">
            <a:off x="781050" y="3333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4273B"/>
                </a:solidFill>
                <a:latin typeface="Arial"/>
                <a:ea typeface="Arial"/>
                <a:cs typeface="Arial"/>
              </a:defRPr>
            </a:pPr>
            <a:r>
              <a:rPr sz="1950" b="0">
                <a:solidFill>
                  <a:srgbClr val="14273B"/>
                </a:solidFill>
                <a:latin typeface="Arial"/>
                <a:ea typeface="Arial"/>
                <a:cs typeface="Arial"/>
              </a:rPr>
              <a:t>Synthetic labels enable online updates in the demonstration</a:t>
            </a:r>
          </a:p>
        </p:txBody>
      </p:sp>
      <p:sp>
        <p:nvSpPr>
          <p:cNvPr id="5" name="">
            <a:extLst xmlns:a="http://schemas.openxmlformats.org/drawingml/2006/main">
              <a:ext uri="{FF2B5EF4-FFF2-40B4-BE49-F238E27FC236}">
                <a16:creationId xmlns:a16="http://schemas.microsoft.com/office/drawing/2014/main" id="{3D29EEF4-9991-4AA5-971B-AD5FFDD373DF}"/>
              </a:ext>
            </a:extLst>
          </p:cNvPr>
          <p:cNvSpPr>
            <a:spLocks xmlns:a="http://schemas.openxmlformats.org/drawingml/2006/main" noGrp="1"/>
          </p:cNvSpPr>
          <p:nvPr/>
        </p:nvSpPr>
        <p:spPr>
          <a:xfrm xmlns:a="http://schemas.openxmlformats.org/drawingml/2006/main">
            <a:off x="781050" y="4048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4273B"/>
                </a:solidFill>
                <a:latin typeface="Arial"/>
                <a:ea typeface="Arial"/>
                <a:cs typeface="Arial"/>
              </a:defRPr>
            </a:pPr>
            <a:r>
              <a:rPr sz="1950" b="0">
                <a:solidFill>
                  <a:srgbClr val="14273B"/>
                </a:solidFill>
                <a:latin typeface="Arial"/>
                <a:ea typeface="Arial"/>
                <a:cs typeface="Arial"/>
              </a:rPr>
              <a:t>Production traces need conversion and independent validation</a:t>
            </a:r>
          </a:p>
        </p:txBody>
      </p:sp>
      <p:sp>
        <p:nvSpPr>
          <p:cNvPr id="6" name="">
            <a:extLst xmlns:a="http://schemas.openxmlformats.org/drawingml/2006/main">
              <a:ext uri="{FF2B5EF4-FFF2-40B4-BE49-F238E27FC236}">
                <a16:creationId xmlns:a16="http://schemas.microsoft.com/office/drawing/2014/main" id="{60C207A9-44E1-45D5-B3AC-0C1DD3BCC982}"/>
              </a:ext>
            </a:extLst>
          </p:cNvPr>
          <p:cNvSpPr>
            <a:spLocks xmlns:a="http://schemas.openxmlformats.org/drawingml/2006/main" noGrp="1"/>
          </p:cNvSpPr>
          <p:nvPr/>
        </p:nvSpPr>
        <p:spPr>
          <a:xfrm xmlns:a="http://schemas.openxmlformats.org/drawingml/2006/main">
            <a:off x="781050" y="47625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4273B"/>
                </a:solidFill>
                <a:latin typeface="Arial"/>
                <a:ea typeface="Arial"/>
                <a:cs typeface="Arial"/>
              </a:defRPr>
            </a:pPr>
            <a:r>
              <a:rPr sz="1950" b="0">
                <a:solidFill>
                  <a:srgbClr val="14273B"/>
                </a:solidFill>
                <a:latin typeface="Arial"/>
                <a:ea typeface="Arial"/>
                <a:cs typeface="Arial"/>
              </a:rPr>
              <a:t>Simulation excludes physical disk latency and bandwidth</a:t>
            </a:r>
          </a:p>
        </p:txBody>
      </p:sp>
    </p:spTree>
    <p:extLst>
      <p:ext uri="{BB962C8B-B14F-4D97-AF65-F5344CB8AC3E}">
        <p14:creationId xmlns:p14="http://schemas.microsoft.com/office/powerpoint/2010/main" val="5456102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2026-09-21T21:24:49.2060000Z</dcterms:created>
  <dcterms:modified xsi:type="dcterms:W3CDTF">2026-09-21T21:24:49.2060000Z</dcterms:modified>
</coreProperties>
</file>
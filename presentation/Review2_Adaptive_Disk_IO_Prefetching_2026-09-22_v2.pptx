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0e97ae03b4f8f" /><Relationship Type="http://schemas.openxmlformats.org/officeDocument/2006/relationships/extended-properties" Target="/docProps/app.xml" Id="Ra32caabf8a41484d" /><Relationship Type="http://schemas.openxmlformats.org/officeDocument/2006/relationships/officeDocument" Target="/ppt/presentation.xml" Id="R6259a87d28de4b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2849264b648c8"/>
  </p:sldMasterIdLst>
  <p:notesMasterIdLst>
    <p:notesMasterId xmlns:r="http://schemas.openxmlformats.org/officeDocument/2006/relationships" r:id="Rc69f141d33eb441a"/>
  </p:notesMasterIdLst>
  <p:sldIdLst>
    <p:sldId xmlns:r="http://schemas.openxmlformats.org/officeDocument/2006/relationships" id="256" r:id="Rf640a24c329c46fa"/>
    <p:sldId xmlns:r="http://schemas.openxmlformats.org/officeDocument/2006/relationships" id="257" r:id="Rbd3bb3e1484f41fb"/>
    <p:sldId xmlns:r="http://schemas.openxmlformats.org/officeDocument/2006/relationships" id="258" r:id="R0d44adc856ab47d0"/>
    <p:sldId xmlns:r="http://schemas.openxmlformats.org/officeDocument/2006/relationships" id="259" r:id="R5aadf3d37e794d5a"/>
    <p:sldId xmlns:r="http://schemas.openxmlformats.org/officeDocument/2006/relationships" id="260" r:id="R9cb94afa2a0542fe"/>
    <p:sldId xmlns:r="http://schemas.openxmlformats.org/officeDocument/2006/relationships" id="261" r:id="R55fcb06ec87d4fb5"/>
    <p:sldId xmlns:r="http://schemas.openxmlformats.org/officeDocument/2006/relationships" id="262" r:id="Ra3bdc660521e42e5"/>
    <p:sldId xmlns:r="http://schemas.openxmlformats.org/officeDocument/2006/relationships" id="263" r:id="R6ab98f92759948bc"/>
    <p:sldId xmlns:r="http://schemas.openxmlformats.org/officeDocument/2006/relationships" id="264" r:id="Rb27033120e284299"/>
    <p:sldId xmlns:r="http://schemas.openxmlformats.org/officeDocument/2006/relationships" id="265" r:id="R075b93e11c184408"/>
    <p:sldId xmlns:r="http://schemas.openxmlformats.org/officeDocument/2006/relationships" id="266" r:id="R2328591aa1c24510"/>
    <p:sldId xmlns:r="http://schemas.openxmlformats.org/officeDocument/2006/relationships" id="267" r:id="Ra2a665031c65477a"/>
    <p:sldId xmlns:r="http://schemas.openxmlformats.org/officeDocument/2006/relationships" id="268" r:id="R9588c1b9b5474d9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545a10e2840ad" /><Relationship Type="http://schemas.openxmlformats.org/officeDocument/2006/relationships/slideMaster" Target="/ppt/slideMasters/slideMaster1.xml" Id="Rfb32849264b648c8" /><Relationship Type="http://schemas.openxmlformats.org/officeDocument/2006/relationships/notesMaster" Target="/ppt/notesMasters/notesMaster1.xml" Id="Rc69f141d33eb441a" /><Relationship Type="http://schemas.openxmlformats.org/officeDocument/2006/relationships/presProps" Target="/ppt/presProps.xml" Id="R215988d9f9d9410a" /><Relationship Type="http://schemas.openxmlformats.org/officeDocument/2006/relationships/tableStyles" Target="/ppt/tableStyles.xml" Id="Rf9337ac2748840f4" /><Relationship Type="http://schemas.openxmlformats.org/officeDocument/2006/relationships/slide" Target="/ppt/slides/slide1.xml" Id="Rf640a24c329c46fa" /><Relationship Type="http://schemas.openxmlformats.org/officeDocument/2006/relationships/slide" Target="/ppt/slides/slide2.xml" Id="Rbd3bb3e1484f41fb" /><Relationship Type="http://schemas.openxmlformats.org/officeDocument/2006/relationships/slide" Target="/ppt/slides/slide3.xml" Id="R0d44adc856ab47d0" /><Relationship Type="http://schemas.openxmlformats.org/officeDocument/2006/relationships/slide" Target="/ppt/slides/slide4.xml" Id="R5aadf3d37e794d5a" /><Relationship Type="http://schemas.openxmlformats.org/officeDocument/2006/relationships/slide" Target="/ppt/slides/slide5.xml" Id="R9cb94afa2a0542fe" /><Relationship Type="http://schemas.openxmlformats.org/officeDocument/2006/relationships/slide" Target="/ppt/slides/slide6.xml" Id="R55fcb06ec87d4fb5" /><Relationship Type="http://schemas.openxmlformats.org/officeDocument/2006/relationships/slide" Target="/ppt/slides/slide7.xml" Id="Ra3bdc660521e42e5" /><Relationship Type="http://schemas.openxmlformats.org/officeDocument/2006/relationships/slide" Target="/ppt/slides/slide8.xml" Id="R6ab98f92759948bc" /><Relationship Type="http://schemas.openxmlformats.org/officeDocument/2006/relationships/slide" Target="/ppt/slides/slide9.xml" Id="Rb27033120e284299" /><Relationship Type="http://schemas.openxmlformats.org/officeDocument/2006/relationships/slide" Target="/ppt/slides/slide10.xml" Id="R075b93e11c184408" /><Relationship Type="http://schemas.openxmlformats.org/officeDocument/2006/relationships/slide" Target="/ppt/slides/slide11.xml" Id="R2328591aa1c24510" /><Relationship Type="http://schemas.openxmlformats.org/officeDocument/2006/relationships/slide" Target="/ppt/slides/slide12.xml" Id="Ra2a665031c65477a" /><Relationship Type="http://schemas.openxmlformats.org/officeDocument/2006/relationships/slide" Target="/ppt/slides/slide13.xml" Id="R9588c1b9b5474d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36f45df10845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ed29c7e8ed4ac7" /><Relationship Type="http://schemas.openxmlformats.org/officeDocument/2006/relationships/notesMaster" Target="/ppt/notesMasters/notesMaster1.xml" Id="Rf10ad59a98164e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bebec2b724e64" /><Relationship Type="http://schemas.openxmlformats.org/officeDocument/2006/relationships/notesMaster" Target="/ppt/notesMasters/notesMaster1.xml" Id="R80a8ccd5d283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79b8c8ce9456f" /><Relationship Type="http://schemas.openxmlformats.org/officeDocument/2006/relationships/notesMaster" Target="/ppt/notesMasters/notesMaster1.xml" Id="R0ecc3058fa31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53c95978be40c4" /><Relationship Type="http://schemas.openxmlformats.org/officeDocument/2006/relationships/notesMaster" Target="/ppt/notesMasters/notesMaster1.xml" Id="R236af718fcfd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75d10f291b43e6" /><Relationship Type="http://schemas.openxmlformats.org/officeDocument/2006/relationships/notesMaster" Target="/ppt/notesMasters/notesMaster1.xml" Id="R237c00072d11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8615200eb4df1" /><Relationship Type="http://schemas.openxmlformats.org/officeDocument/2006/relationships/notesMaster" Target="/ppt/notesMasters/notesMaster1.xml" Id="R81ba2c01bfb7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2db75bf6834bba" /><Relationship Type="http://schemas.openxmlformats.org/officeDocument/2006/relationships/notesMaster" Target="/ppt/notesMasters/notesMaster1.xml" Id="Rdac3400ea86948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ebf94512134d28" /><Relationship Type="http://schemas.openxmlformats.org/officeDocument/2006/relationships/notesMaster" Target="/ppt/notesMasters/notesMaster1.xml" Id="R5c157c525f83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f38ab7cfdb4b07" /><Relationship Type="http://schemas.openxmlformats.org/officeDocument/2006/relationships/notesMaster" Target="/ppt/notesMasters/notesMaster1.xml" Id="R888109dfb1e544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2073dba7a043d9" /><Relationship Type="http://schemas.openxmlformats.org/officeDocument/2006/relationships/notesMaster" Target="/ppt/notesMasters/notesMaster1.xml" Id="Rd9bec2b5c55c41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b97595a447464a" /><Relationship Type="http://schemas.openxmlformats.org/officeDocument/2006/relationships/notesMaster" Target="/ppt/notesMasters/notesMaster1.xml" Id="R6ef8de5c7c2f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038b1018b64dec" /><Relationship Type="http://schemas.openxmlformats.org/officeDocument/2006/relationships/notesMaster" Target="/ppt/notesMasters/notesMaster1.xml" Id="Re59bfb225c6741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9b7bc514fa4967" /><Relationship Type="http://schemas.openxmlformats.org/officeDocument/2006/relationships/notesMaster" Target="/ppt/notesMasters/notesMaster1.xml" Id="Rd799e94ed764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updates the team's Review 1 objectives using only implemented Review 2 evidence. Source: Operating Systems Lab Submission 2.pdf, pages 1 and 8. The current implementation is a user-space simulator.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rubric allocates 1 mark to architecture, 1 to module identification, 4 to module completion, and 4 to presentation and discussion. Source: Project Review 2 criteria supplied by the user. Show the code and live commands on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complete window observes 32 requests and only then changes the policy for subsequent requests. Online supervised updates need trusted labels. Source: src/adaptive_prefetch/trace.py, features.py, model.py, simulator.py; Review 1 PDF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Normalized request fields are timestamp in ms, block index, size in blocks, read/write and stream ID. The included MSR-format sample has 1,000 requests, but its provenance is unverified and it lacks four-class labels. Source: trace.py, features.py, data/samples/README.md.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 Naive Bayes stores per-class counts, means and variance statistics and updates one labelled window at a time. The synthetic generator provides trustworthy labels. The MSR sample adaptation uses 13 conservative random-like proxy labels, not real ground truth. Source: model.py, training.py, docs/MSR_SAMPLE_TRAINING.md.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Adaptive mapping: sequential -&gt; next two blocks, strided -&gt; learned stride, random -&gt; none, mixed -&gt; next block. All candidates are issued after the request, and writes do not trigger prefetch. The LSTM implementation is optional and was skipped because no PyTorch artifact was available. Source: simulator.py, baselines.py, lstm.py.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point to code ownership. Every listed module is implemented. Optional LSTM training runtime and kernel integration are excluded from completion claims. Source: repository src/adaptive_prefetch and tests/test_project.py.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three commands from the repository root. Unit tests check trace conversion, classifier updates, first-window causality, baselines, model persistence and benchmark availability. Source: run_review2.ps1 and tests/test_project.py; current run on 22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training set contains 100 windows per class; the held-out set contains 40 per class generated with a different seed. 160/160 correct is specific to this generator, not a real-world accuracy estimate. Source: current run_review2.ps1 demo output on 22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42 transition benchmark, 8 windows per class, 128-block cache. Hit ratios: none 0, sequential 23.35, window stride 9.17, classic stride 12.11, Markov 25.53, adaptive 28.75 percent. Markov's modelled cost was 93.28 us/read versus adaptive 95.74. The cost is simulated, not measured disk latency. Source: current benchmark output on 22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bundled 1,000-request sample has unverified provenance and no four-class labels. Fixed sequential had the highest hit ratio at 3.05%, but modelled mean cost 100.72 us/read versus 98.53 for no prefetch. Synthetic-only adaptive was 2.33% / 99.60 us. The weakly adapted classifier produced 1.54% in an in-sample replay and selected no prefetch. These do not establish a general real-trace win. Source: benchmark output and docs/MSR_SAMPLE_TRAINING.md.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 proposed full MSR and IOTTA evaluation, an offline LSTM baseline, and faster adaptation. Review 2 has a seven-mode harness, but no trained LSTM artifact or full IOTTA run. Frozen and labelled-online classifiers had equal zero-window lag on easy synthetic phases, so faster drift adaptation is not demonstrated. Source: Review 1 PDF page 11, docs/STAGE2_RESULTS.md, docs/MSR_SAMPLE_TRAINING.md.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order: run tests, then demo for confusion matrix and policy switching, then benchmark, then sample replay with trained artifact. The MSR in-sample model is not used as a held-out metric. If asked: Why ML? Gaussian NB learns distributions. Why simulation? It tests logic without kernel hooks. Why no real accuracy? The sample has no trusted labels. Why no prefetch after adaptation? Random-like windows led to the conservative random policy. Source: README.md and docs/REVIEW2.md.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2f51670de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c0a2c26ec749f6" /><Relationship Type="http://schemas.openxmlformats.org/officeDocument/2006/relationships/slideLayout" Target="/ppt/slideLayouts/slideLayout1.xml" Id="Rc27e01598d3f43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7e01598d3f43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efb3502f44f2b" /><Relationship Type="http://schemas.openxmlformats.org/officeDocument/2006/relationships/notesSlide" Target="/ppt/notesSlides/notesSlide1.xml" Id="R2d9ecf564120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7c4ab486e4b9e" /><Relationship Type="http://schemas.openxmlformats.org/officeDocument/2006/relationships/notesSlide" Target="/ppt/notesSlides/notesSlide2.xml" Id="R5323f7ffa7f7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3a35b02d84384" /><Relationship Type="http://schemas.openxmlformats.org/officeDocument/2006/relationships/notesSlide" Target="/ppt/notesSlides/notesSlide3.xml" Id="R41d5b5839dd049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3a09f34144854" /><Relationship Type="http://schemas.openxmlformats.org/officeDocument/2006/relationships/notesSlide" Target="/ppt/notesSlides/notesSlide4.xml" Id="Ra15ec56bd099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01f9b39534390" /><Relationship Type="http://schemas.openxmlformats.org/officeDocument/2006/relationships/notesSlide" Target="/ppt/notesSlides/notesSlide5.xml" Id="R46fc5b5025a0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111f8106d4fa7" /><Relationship Type="http://schemas.openxmlformats.org/officeDocument/2006/relationships/notesSlide" Target="/ppt/notesSlides/notesSlide6.xml" Id="R9351d44f2f7d42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2e02ac35d4b6d" /><Relationship Type="http://schemas.openxmlformats.org/officeDocument/2006/relationships/notesSlide" Target="/ppt/notesSlides/notesSlide7.xml" Id="Rbf2fc5f6689f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f1767891463b" /><Relationship Type="http://schemas.openxmlformats.org/officeDocument/2006/relationships/notesSlide" Target="/ppt/notesSlides/notesSlide8.xml" Id="Rb4fcc6317d2e45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adccfc4154c25" /><Relationship Type="http://schemas.openxmlformats.org/officeDocument/2006/relationships/notesSlide" Target="/ppt/notesSlides/notesSlide9.xml" Id="R901513517f934b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6a6a7dc3045a5" /><Relationship Type="http://schemas.openxmlformats.org/officeDocument/2006/relationships/chart" Target="/ppt/slides/charts/chart1.xml" Id="Reeac843675ee4cc4" /><Relationship Type="http://schemas.openxmlformats.org/officeDocument/2006/relationships/notesSlide" Target="/ppt/notesSlides/notesSlide10.xml" Id="R96ba71c024624b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378d7048e42a7" /><Relationship Type="http://schemas.openxmlformats.org/officeDocument/2006/relationships/notesSlide" Target="/ppt/notesSlides/notesSlide11.xml" Id="Re57575448b4044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fa2064ad840dd" /><Relationship Type="http://schemas.openxmlformats.org/officeDocument/2006/relationships/notesSlide" Target="/ppt/notesSlides/notesSlide12.xml" Id="R32db1edeb07845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78f02ab6644bb" /><Relationship Type="http://schemas.openxmlformats.org/officeDocument/2006/relationships/notesSlide" Target="/ppt/notesSlides/notesSlide13.xml" Id="R71395e1210e249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hit ratio (%)</c:v>
          </c:tx>
          <c:spPr>
            <a:solidFill xmlns:a="http://schemas.openxmlformats.org/drawingml/2006/main">
              <a:srgbClr val="028090"/>
            </a:solidFill>
          </c:spPr>
          <c:cat>
            <c:strRef>
              <c:f>'Chart Data'!$A$2:$A$7</c:f>
              <c:strCache>
                <c:ptCount val="6"/>
                <c:pt idx="0">
                  <c:v>None</c:v>
                </c:pt>
                <c:pt idx="1">
                  <c:v>Sequential</c:v>
                </c:pt>
                <c:pt idx="2">
                  <c:v>Window stride</c:v>
                </c:pt>
                <c:pt idx="3">
                  <c:v>Classic stride</c:v>
                </c:pt>
                <c:pt idx="4">
                  <c:v>Markov</c:v>
                </c:pt>
                <c:pt idx="5">
                  <c:v>Adaptive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23.35</c:v>
                </c:pt>
                <c:pt idx="2">
                  <c:v>9.17</c:v>
                </c:pt>
                <c:pt idx="3">
                  <c:v>12.11</c:v>
                </c:pt>
                <c:pt idx="4">
                  <c:v>25.53</c:v>
                </c:pt>
                <c:pt idx="5">
                  <c:v>28.75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B2A2E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8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F0CDC-7D9C-4E7A-A6A9-854BCB37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48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39A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PROJECT REVIEW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DC1EE-88F5-4AE0-8883-BA90C36E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8096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92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Machine Learning-Based Adaptive Disk I/O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92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Prefetching Using Workload Pattern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92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91D03-D410-421E-A986-1DDEA7E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43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 recent I/O, then select the prefetch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65DE6-5D3C-48F5-9945-E44071B7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2430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Ashvik Mishra 24BAI0342   |   Shourya Saraf 24BDS0391</a:t>
            </a:r>
          </a:p>
        </p:txBody>
      </p:sp>
    </p:spTree>
    <p:extLst>
      <p:ext uri="{BB962C8B-B14F-4D97-AF65-F5344CB8AC3E}">
        <p14:creationId xmlns:p14="http://schemas.microsoft.com/office/powerpoint/2010/main" val="1708681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B19E-FF5E-4C95-A1CF-4145C967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REVIEW RUBRIC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BCB65-6945-4FE3-A4AE-B3E3AFB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What this review demonstrates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F9CA5-3705-4575-8EEF-EDE509E6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1933B-F72B-4A14-AF7B-A43C4411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9575" y="1409700"/>
          <a:ext xmlns:a="http://schemas.openxmlformats.org/drawingml/2006/main" cx="82867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048250"/>
                <a:gridCol w="809625"/>
              </a:tblGrid>
              <a:tr h="58483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in this review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Marks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System design &amp; architecture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Causal trace-to-cache pipeline (slide 3)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Module identification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Code map and responsibilities (slide 7)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Module completion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Trained model, tests, replay and benchmark (slides 8-11)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Presentation &amp; discussion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Live demo, result interpretation and limits (slides 12-13)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BBF76-E3C9-4400-B206-073357B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5770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Review 2 total: 10 marks</a:t>
            </a:r>
          </a:p>
        </p:txBody>
      </p:sp>
    </p:spTree>
    <p:extLst>
      <p:ext uri="{BB962C8B-B14F-4D97-AF65-F5344CB8AC3E}">
        <p14:creationId xmlns:p14="http://schemas.microsoft.com/office/powerpoint/2010/main" val="1111020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F4FDF-6C80-4BE1-A771-1DB917CA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17C38-B9F2-4FA3-85C1-036F192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Causal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D20B1-E93B-4E7A-A776-6069A9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235E7-C56D-4115-A453-B3FBE666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C2C88-C107-4674-B194-BAAA3F9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51838-8582-43D5-84F8-2E00820D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FC80E-E0EB-4BE5-B21E-F2783DF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716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E7B20-BB5D-4432-B0C6-62217E28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31E1B-7684-4A76-ADCC-1AF13DB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32-request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5FE7C-C827-416E-863E-0A8ED67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716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B61C1-CFCB-47B5-8B81-C1769701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5AF84-99B9-4D24-AC22-5577B310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Eight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4ADAE-3B52-4E34-84DA-AE11BA98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716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D44B2-2747-4DEE-93ED-02A00AF1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66D53-177D-433F-9C85-36D2110F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Pattern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B551E-C0EF-4DF9-991C-E9F6186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716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3ADFD-F1ED-4793-8ED4-F6772808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083DA-7F67-4CFE-B919-25A7866C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D9C3E-9D36-428A-8690-ADDC02D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58C90-C1E6-45B6-BA86-DCDE5DE2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3075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2E1D5-D6FD-40E3-B7EF-ABF8445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LRU cache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2B5C6-F43E-4F40-8CB7-1BB78432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146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First window: observe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50938-0A1A-4FE7-9D25-CFFA4D1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575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Completed-window prediction affects later requests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92C66-0590-47E3-888A-414BBCF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14800"/>
            <a:ext cx="812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All policies replay the same requests with the same cache capacity and LRU rules.</a:t>
            </a:r>
          </a:p>
        </p:txBody>
      </p:sp>
    </p:spTree>
    <p:extLst>
      <p:ext uri="{BB962C8B-B14F-4D97-AF65-F5344CB8AC3E}">
        <p14:creationId xmlns:p14="http://schemas.microsoft.com/office/powerpoint/2010/main" val="645947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B92AC-37AC-4E82-A025-108D4873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5813C-538B-4820-95A4-D8B35A3C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Input data and window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41111-D896-46DC-B2B1-77C369AF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AB7D0-83B9-454F-8E83-BA777685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1D692-DBA8-45BB-B8A7-F251A139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811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8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Input traces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D008C-1BF7-4939-B29B-006CEEA5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6690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Generated traces supply known labels for four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CF702-3DCC-4071-A092-A190268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050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MSR-format CSV converts byte offsets and lengths to 512-byte blocks.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7B0D0-6588-4F6D-9318-F9A219B4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62325"/>
            <a:ext cx="376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The bundled sample contains 1,000 requests and no class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89250-1B83-4617-BD0C-48557A0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811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8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Eight features per complete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FB8F-2FC1-4CB2-92E7-5EAE1FDA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66900"/>
            <a:ext cx="381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Address: adjacency, repeated stride, large jumps, short runs, unique blocks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302C-9A8A-46C3-88CD-C8735CCD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Timing: gap variation and burst fraction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5A577-A42A-47E7-8911-493A0CA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I/O mix: fraction of reads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61285-B9E3-4416-B702-D2371B67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52925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Current classification uses the aggregate stream, not one model per device.</a:t>
            </a:r>
          </a:p>
        </p:txBody>
      </p:sp>
    </p:spTree>
    <p:extLst>
      <p:ext uri="{BB962C8B-B14F-4D97-AF65-F5344CB8AC3E}">
        <p14:creationId xmlns:p14="http://schemas.microsoft.com/office/powerpoint/2010/main" val="1682597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3D30C-9AAA-443E-B3A4-680DDABA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653B9-5FA1-4499-8D64-247A9B9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Incremental four-class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AE5F2-94FF-4545-8953-5C7E17CB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62CA-1E0B-4A57-B6DE-01F98266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A9100-0685-4465-88D1-5A81C8CB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01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87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Gaussian Naive Bayes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47700-A241-4A50-9FAD-7206846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288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400 labelled generated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05FD0-B006-4893-B67F-2718CD5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100 each: sequential, strided, random, mixed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A14B7-A1EF-437C-9FBC-F20272C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Incremental updates use running statistics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DB6FB-4A67-427B-8E51-4876DAA7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A label is needed after each completed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E6EA-87ED-4179-B754-46544E4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43050"/>
            <a:ext cx="2667000" cy="2219325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81E13-6811-406D-8C09-412B4E7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MSR sample adaptation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2B28D-9B39-4CBA-9110-ADB155E1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0275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13 read-heavy windows received a random-like proxy label.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5544B-14AC-4666-B450-98C8207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No measured real four-class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B01E0-E429-43F8-A7DB-1D93CC5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Successful prefetching is never used as a class label.</a:t>
            </a:r>
          </a:p>
        </p:txBody>
      </p:sp>
    </p:spTree>
    <p:extLst>
      <p:ext uri="{BB962C8B-B14F-4D97-AF65-F5344CB8AC3E}">
        <p14:creationId xmlns:p14="http://schemas.microsoft.com/office/powerpoint/2010/main" val="1160443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F9C6F-67AD-46F2-9D09-4458DABF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59DE-59E0-4B91-9E9A-60D312A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Policy selection and comparison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63013-26D1-48AF-BBBF-0B6F000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0F041-6798-4172-9F23-80E057D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04825" y="1362075"/>
          <a:ext xmlns:a="http://schemas.openxmlformats.org/drawingml/2006/main" cx="8124825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0325"/>
                <a:gridCol w="5524500"/>
              </a:tblGrid>
              <a:tr h="49339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Predicted class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Adaptive prefetch policy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Sequential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Read ahead two blocks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Strided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Follow the detected window stride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Random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Issue no prefetch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Mixed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Read ahead one block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AADD2-F59C-4C17-8496-7800DAA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100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Comparison modes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FFBB0-1C2C-4E9D-9E9D-B0172F9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24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No prefetch, fixed sequential, window stride, classic stride, Markov, adaptive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CD83B-F20F-40FA-B463-91ABBA12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91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Offline LSTM path exists, but was not run in this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02622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B8518-09FA-418A-BCB2-C399491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91F99-1CCA-4D4B-B284-2C2F7FE1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Implemented modules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2255E-E8E2-45E6-9F3D-C93994A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1E54B-D2B6-43E8-BFE7-857E366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8334375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762250"/>
                <a:gridCol w="3571875"/>
              </a:tblGrid>
              <a:tr h="46128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Primary files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Completion evidence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Trace intake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trace.py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Generated + CSV/MSR adapters tested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Features + classifier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features.py, model.py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Four-class synthetic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Policy + cache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simulator.py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Causal LRU replay and metrics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Baselines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baselines.py, lstm.py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Stride/Markov tested; LSTM optional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Benchmark + training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benchmark.py, training.py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Seven-row matrix + saved MSR model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612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Commands +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cli.py, tests/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Demo, replay and 23 passing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C166A-E6FE-481C-A61E-A5A9383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Kernel I/O integration remains outside this user-space prototype.</a:t>
            </a:r>
          </a:p>
        </p:txBody>
      </p:sp>
    </p:spTree>
    <p:extLst>
      <p:ext uri="{BB962C8B-B14F-4D97-AF65-F5344CB8AC3E}">
        <p14:creationId xmlns:p14="http://schemas.microsoft.com/office/powerpoint/2010/main" val="1724235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318D1-8609-4C04-8940-7FD8779C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14541-81A7-4FC1-8FEE-2FCF4AF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Verification of the working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F309F-EC51-4ED3-8EE7-D4957B63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9FCB0-732B-4969-9591-CF2B286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57EF-CA7D-4318-9F98-C1C1974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4097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457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23 /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73D01-52F8-4EF5-91C0-D6DA9B5A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47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automated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B18B2-AC66-4F3D-90B1-A7EC503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85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Causality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8D8C5-C9C6-46F9-B630-0911CEE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95475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The first 32 requests produce no prefetch. Later policy decisions use only completed windows.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4D404-A7FF-44F1-B525-1490E4E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24200"/>
            <a:ext cx="802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Reproducible commands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A2153-6E01-4825-BC94-8D593A22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14725"/>
            <a:ext cx="802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.\run_review2.ps1 -Test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45017-5A37-44DE-94E1-95D8019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57625"/>
            <a:ext cx="802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.\run_review2.ps1 -Benchmark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F36A7-17B8-4A51-9E62-ADCAE028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00525"/>
            <a:ext cx="802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.\run_review2.ps1 -TrainMSR</a:t>
            </a:r>
          </a:p>
        </p:txBody>
      </p:sp>
    </p:spTree>
    <p:extLst>
      <p:ext uri="{BB962C8B-B14F-4D97-AF65-F5344CB8AC3E}">
        <p14:creationId xmlns:p14="http://schemas.microsoft.com/office/powerpoint/2010/main" val="195718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22415-D20F-4553-A924-19E2B73F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06170-E46E-4609-87A7-E4C39CA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Held-out generated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AC635-7193-4DDD-B2A2-859EB56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F02BF-3383-4BD2-90B6-6716C66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E3E21-9FAC-49ED-9C9E-C471AC2D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39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160 / 160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5ED65-0AFB-45EE-91FB-98C4C33F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335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correct on independently generated windows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5300" y="2600325"/>
          <a:ext xmlns:a="http://schemas.openxmlformats.org/drawingml/2006/main" cx="814387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33500"/>
                <a:gridCol w="1333500"/>
                <a:gridCol w="1476375"/>
                <a:gridCol w="1524000"/>
              </a:tblGrid>
              <a:tr h="3581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True / predicted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Seq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Stride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Random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Mixed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Sequential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Strided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Random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Mixed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969A-4E85-476C-B21D-3740F23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814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This verifies the generated patterns. Real-trace accuracy is still unknown.</a:t>
            </a:r>
          </a:p>
        </p:txBody>
      </p:sp>
    </p:spTree>
    <p:extLst>
      <p:ext uri="{BB962C8B-B14F-4D97-AF65-F5344CB8AC3E}">
        <p14:creationId xmlns:p14="http://schemas.microsoft.com/office/powerpoint/2010/main" val="651487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73127-289C-4781-8E40-EBBA14A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18AF9-6FA1-423A-8DF0-47E10ADB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Synthetic cache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A4F3-0C9E-4B3B-A251-7164BDB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5B413-035C-4EEC-B3C2-C1D261C1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7915275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ac843675ee4c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B109B-F31A-4EB0-863E-4AA2DB1F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00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Adaptive: highest hit ratio on this generated mix (28.75%).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66153-7A90-4434-A89A-3573CDA9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767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Markov: lower modelled mean cost (93.28 vs 95.74 µs/read).</a:t>
            </a:r>
          </a:p>
        </p:txBody>
      </p:sp>
    </p:spTree>
    <p:extLst>
      <p:ext uri="{BB962C8B-B14F-4D97-AF65-F5344CB8AC3E}">
        <p14:creationId xmlns:p14="http://schemas.microsoft.com/office/powerpoint/2010/main" val="18525983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F007B-68C1-4224-8602-AAA664B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MODULE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341B4-69A9-4FDB-8175-C6ABE4C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MSR-format sample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C05CB-946E-466D-AE34-4CFAAA4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8D046-7F74-42D8-820A-BDC8B459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8143875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143125"/>
                <a:gridCol w="2286000"/>
              </a:tblGrid>
              <a:tr h="488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Policy / classifier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Read hit ratio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Modelled µs/read</a:t>
                      </a:r>
                    </a:p>
                  </a:txBody>
                  <a:tcPr marL="91440" marR="91440" marT="45720" marB="45720">
                    <a:solidFill>
                      <a:srgbClr val="028090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No prefetch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1.54%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98.53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Fixed sequential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3.05%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100.72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Markov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1.57%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98.69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Adaptive, synthetic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2.33%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99.60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Adaptive, weakly adapted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1.54%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2E"/>
                          </a:solidFill>
                          <a:latin typeface="Calibri"/>
                          <a:ea typeface="Calibri"/>
                          <a:cs typeface="Calibri"/>
                        </a:rPr>
                        <a:t>98.53</a:t>
                      </a:r>
                    </a:p>
                  </a:txBody>
                  <a:tcPr marL="91440" marR="91440" marT="45720" marB="45720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0281D-28E6-46A5-94CF-9C4C7CB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19600"/>
            <a:ext cx="814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The adapted model used 13 proxy-labelled random-like windows from this same sample.</a:t>
            </a:r>
          </a:p>
        </p:txBody>
      </p:sp>
    </p:spTree>
    <p:extLst>
      <p:ext uri="{BB962C8B-B14F-4D97-AF65-F5344CB8AC3E}">
        <p14:creationId xmlns:p14="http://schemas.microsoft.com/office/powerpoint/2010/main" val="502473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F9D83-C217-4C46-A378-E65F7549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E4094-E460-41A7-B8C7-B70AD9F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What the results do and do not establish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BC81-A05C-416D-A7C0-2A975EE1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94A8F-C009-479E-BF8E-86FD756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02D97-DE36-4EC9-95EA-A2819672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192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Established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8D3D-3FB9-4445-8635-883615E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05000"/>
            <a:ext cx="3810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Causal classify-then-prefetch path</a:t>
            </a:r>
          </a:p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23 passing tests</a:t>
            </a:r>
          </a:p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Reproducible synthetic and sample-trace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59EB9-3A8A-4601-BD92-6692BEB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192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Still 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5D608-F0EC-4293-AED0-5B318C1C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05000"/>
            <a:ext cx="38004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No verified real four-class accuracy</a:t>
            </a:r>
          </a:p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No full IOTTA benchmark or measured disk latency</a:t>
            </a:r>
          </a:p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LSTM code path untested without PyTorch/artifact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486E9-D042-43EE-AAF7-6555D37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90975"/>
            <a:ext cx="814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Drift check: frozen and labelled-online both had zero-window lag on easy generated phases.</a:t>
            </a:r>
          </a:p>
        </p:txBody>
      </p:sp>
    </p:spTree>
    <p:extLst>
      <p:ext uri="{BB962C8B-B14F-4D97-AF65-F5344CB8AC3E}">
        <p14:creationId xmlns:p14="http://schemas.microsoft.com/office/powerpoint/2010/main" val="1055288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31198-A1DF-4F22-8AD3-580878E6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814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PRESENTATION &amp;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6DED1-7B22-48F5-ABE6-176B90F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"/>
            <a:ext cx="8143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A2E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B2A2E"/>
                </a:solidFill>
                <a:latin typeface="Cambria"/>
                <a:ea typeface="Cambria"/>
                <a:cs typeface="Cambria"/>
              </a:rPr>
              <a:t>Live demonstration and key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835D6-9429-475C-9A83-2645397B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Project Review 2  |  ML-Based Adaptive Disk I/O Prefetching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4911-3B6F-416A-BD5A-24FB0858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447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60D5-0390-4CEC-B221-279EBD1A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814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8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Show the working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00C39-9535-4825-AF02-B6712FA4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1  Tests and generated confusion matrix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C5A45-9293-4C8D-B618-3984FD6E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95525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2  Seven-mode benchmark with hit, waste and modelled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EA705-BFDB-4DA9-9866-389A049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3  MSR sample replay, then the weakly adapted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78991-CFAE-4B59-BB03-CBC7E570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8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Explain the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8C25B-E64E-47D2-BA59-8B99FFC3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814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A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B2A2E"/>
                </a:solidFill>
                <a:latin typeface="Calibri"/>
                <a:ea typeface="Calibri"/>
                <a:cs typeface="Calibri"/>
              </a:rPr>
              <a:t>Real labels are absent. Latency is modelled. The LSTM row is skipped.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037CD-D3C8-4903-B290-DD30EE5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814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5B6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D5B60"/>
                </a:solidFill>
                <a:latin typeface="Calibri"/>
                <a:ea typeface="Calibri"/>
                <a:cs typeface="Calibri"/>
              </a:rPr>
              <a:t>Repository: github.com/Shouryasaraf/OS-Project</a:t>
            </a:r>
          </a:p>
        </p:txBody>
      </p:sp>
    </p:spTree>
    <p:extLst>
      <p:ext uri="{BB962C8B-B14F-4D97-AF65-F5344CB8AC3E}">
        <p14:creationId xmlns:p14="http://schemas.microsoft.com/office/powerpoint/2010/main" val="1346088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2026-09-22T10:25:00.3840000Z</dcterms:created>
  <dcterms:modified xsi:type="dcterms:W3CDTF">2026-09-22T10:25:00.3850000Z</dcterms:modified>
</coreProperties>
</file>
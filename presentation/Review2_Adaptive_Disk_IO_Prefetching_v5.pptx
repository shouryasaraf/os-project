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3201a817397431b" /><Relationship Type="http://schemas.openxmlformats.org/officeDocument/2006/relationships/extended-properties" Target="/docProps/app.xml" Id="R86562cb1da3b479d" /><Relationship Type="http://schemas.openxmlformats.org/officeDocument/2006/relationships/officeDocument" Target="/ppt/presentation.xml" Id="R23fe8bb8533c42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b2fbe9ca214a4e"/>
  </p:sldMasterIdLst>
  <p:notesMasterIdLst>
    <p:notesMasterId xmlns:r="http://schemas.openxmlformats.org/officeDocument/2006/relationships" r:id="R2020684b2c9445ef"/>
  </p:notesMasterIdLst>
  <p:sldIdLst>
    <p:sldId xmlns:r="http://schemas.openxmlformats.org/officeDocument/2006/relationships" id="256" r:id="R0fc1271ff9a94eea"/>
    <p:sldId xmlns:r="http://schemas.openxmlformats.org/officeDocument/2006/relationships" id="257" r:id="R7b64fdc9d3554179"/>
    <p:sldId xmlns:r="http://schemas.openxmlformats.org/officeDocument/2006/relationships" id="258" r:id="R307d16b4ac6a4ec5"/>
    <p:sldId xmlns:r="http://schemas.openxmlformats.org/officeDocument/2006/relationships" id="259" r:id="Rc910446bddc4404c"/>
    <p:sldId xmlns:r="http://schemas.openxmlformats.org/officeDocument/2006/relationships" id="260" r:id="R5c93dc85924b49b8"/>
    <p:sldId xmlns:r="http://schemas.openxmlformats.org/officeDocument/2006/relationships" id="261" r:id="Rcb0b34a1d2294ffc"/>
    <p:sldId xmlns:r="http://schemas.openxmlformats.org/officeDocument/2006/relationships" id="262" r:id="R53905e6454634d5f"/>
    <p:sldId xmlns:r="http://schemas.openxmlformats.org/officeDocument/2006/relationships" id="263" r:id="Rfcb3a180fe7d40bc"/>
    <p:sldId xmlns:r="http://schemas.openxmlformats.org/officeDocument/2006/relationships" id="264" r:id="Rbfb10516bcf94ca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79c8cbed6442b8" /><Relationship Type="http://schemas.openxmlformats.org/officeDocument/2006/relationships/slideMaster" Target="/ppt/slideMasters/slideMaster1.xml" Id="R93b2fbe9ca214a4e" /><Relationship Type="http://schemas.openxmlformats.org/officeDocument/2006/relationships/notesMaster" Target="/ppt/notesMasters/notesMaster1.xml" Id="R2020684b2c9445ef" /><Relationship Type="http://schemas.openxmlformats.org/officeDocument/2006/relationships/presProps" Target="/ppt/presProps.xml" Id="R426fe9365ac44e51" /><Relationship Type="http://schemas.openxmlformats.org/officeDocument/2006/relationships/tableStyles" Target="/ppt/tableStyles.xml" Id="R276f7bae92b04aba" /><Relationship Type="http://schemas.openxmlformats.org/officeDocument/2006/relationships/slide" Target="/ppt/slides/slide1.xml" Id="R0fc1271ff9a94eea" /><Relationship Type="http://schemas.openxmlformats.org/officeDocument/2006/relationships/slide" Target="/ppt/slides/slide2.xml" Id="R7b64fdc9d3554179" /><Relationship Type="http://schemas.openxmlformats.org/officeDocument/2006/relationships/slide" Target="/ppt/slides/slide3.xml" Id="R307d16b4ac6a4ec5" /><Relationship Type="http://schemas.openxmlformats.org/officeDocument/2006/relationships/slide" Target="/ppt/slides/slide4.xml" Id="Rc910446bddc4404c" /><Relationship Type="http://schemas.openxmlformats.org/officeDocument/2006/relationships/slide" Target="/ppt/slides/slide5.xml" Id="R5c93dc85924b49b8" /><Relationship Type="http://schemas.openxmlformats.org/officeDocument/2006/relationships/slide" Target="/ppt/slides/slide6.xml" Id="Rcb0b34a1d2294ffc" /><Relationship Type="http://schemas.openxmlformats.org/officeDocument/2006/relationships/slide" Target="/ppt/slides/slide7.xml" Id="R53905e6454634d5f" /><Relationship Type="http://schemas.openxmlformats.org/officeDocument/2006/relationships/slide" Target="/ppt/slides/slide8.xml" Id="Rfcb3a180fe7d40bc" /><Relationship Type="http://schemas.openxmlformats.org/officeDocument/2006/relationships/slide" Target="/ppt/slides/slide9.xml" Id="Rbfb10516bcf94c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0d0254425cf4a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fe986e534c46d6" /><Relationship Type="http://schemas.openxmlformats.org/officeDocument/2006/relationships/notesMaster" Target="/ppt/notesMasters/notesMaster1.xml" Id="R4ca4861de4f54a0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7826347d5940de" /><Relationship Type="http://schemas.openxmlformats.org/officeDocument/2006/relationships/notesMaster" Target="/ppt/notesMasters/notesMaster1.xml" Id="R4eaa6fbc57644b2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44e2a72b5b14800" /><Relationship Type="http://schemas.openxmlformats.org/officeDocument/2006/relationships/notesMaster" Target="/ppt/notesMasters/notesMaster1.xml" Id="Re3d833c1faac404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7b39028b9fb4e33" /><Relationship Type="http://schemas.openxmlformats.org/officeDocument/2006/relationships/notesMaster" Target="/ppt/notesMasters/notesMaster1.xml" Id="R4c549f086c7148c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99e3eea997246de" /><Relationship Type="http://schemas.openxmlformats.org/officeDocument/2006/relationships/notesMaster" Target="/ppt/notesMasters/notesMaster1.xml" Id="Rc04b58560b854a2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d6ccc94d83446b8" /><Relationship Type="http://schemas.openxmlformats.org/officeDocument/2006/relationships/notesMaster" Target="/ppt/notesMasters/notesMaster1.xml" Id="Rae8f1e26231547f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1fd5c9f6ee84882" /><Relationship Type="http://schemas.openxmlformats.org/officeDocument/2006/relationships/notesMaster" Target="/ppt/notesMasters/notesMaster1.xml" Id="R5d06062ac615406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40b0c4a3000482d" /><Relationship Type="http://schemas.openxmlformats.org/officeDocument/2006/relationships/notesMaster" Target="/ppt/notesMasters/notesMaster1.xml" Id="R2b977c2745a4453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90ae32535b64f8f" /><Relationship Type="http://schemas.openxmlformats.org/officeDocument/2006/relationships/notesMaster" Target="/ppt/notesMasters/notesMaster1.xml" Id="Rc390d684068045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central contribution is classifying recent disk accesses before choosing a prefetch policy. This is a user-space simulation, not a kernel modification. Source: team Review 1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review rubric asks for architecture, module identification, module completion, and presentation. Demonstrate the real implemented pipeline and do not claim real-trace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pipeline in order. A completed window changes the policy only for future requests. Online model updates in this prototype use known synthetic labels.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input schema is an agreement about columns and units. LBA is a block index, size is blocks, timestamp is milliseconds. The generator supplies four known labels for controlled tests.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model is Gaussian Naive Bayes. It stores class counts and running feature means and variances. Ground-truth labels are needed for supervised updates.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four mappings are implemented in the simulator. A cache hit means a requested read block was resident. Prefetch precision is useful prefetches divided by prefetches issued.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listed implemented modules have source code and unit tests or live demo evidence. The MSR-format sample adapter is implemented; kernel integration is not complete.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 are from a deterministic generated trace with seed 42, 4 windows per class, 128-block LRU cache. They do not establish real-world performance. Compare both hit ratio and unnecessary prefetching.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the demo command, explain the confusion matrix, then show policy transitions and baseline comparison. Run unit tests and replay the included MSR-format sample. Its workload labels and provenance have not been independently verified. The simulator does not estimate physical disk latency.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d0904071a74af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f73394164a6439f" /><Relationship Type="http://schemas.openxmlformats.org/officeDocument/2006/relationships/slideLayout" Target="/ppt/slideLayouts/slideLayout1.xml" Id="Rb91019436a41484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1019436a41484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0156ca7bbe47ff" /><Relationship Type="http://schemas.openxmlformats.org/officeDocument/2006/relationships/notesSlide" Target="/ppt/notesSlides/notesSlide1.xml" Id="R570435806020494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f89f5f994845cb" /><Relationship Type="http://schemas.openxmlformats.org/officeDocument/2006/relationships/notesSlide" Target="/ppt/notesSlides/notesSlide2.xml" Id="Ra6a7c861212c48e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4b9352b037426f" /><Relationship Type="http://schemas.openxmlformats.org/officeDocument/2006/relationships/notesSlide" Target="/ppt/notesSlides/notesSlide3.xml" Id="R576f65fc127045e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3e5e5ec21f43ac" /><Relationship Type="http://schemas.openxmlformats.org/officeDocument/2006/relationships/notesSlide" Target="/ppt/notesSlides/notesSlide4.xml" Id="R052770a1190445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1665b2d9c046fb" /><Relationship Type="http://schemas.openxmlformats.org/officeDocument/2006/relationships/notesSlide" Target="/ppt/notesSlides/notesSlide5.xml" Id="R6b9a1e801ec7409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628552047944f3" /><Relationship Type="http://schemas.openxmlformats.org/officeDocument/2006/relationships/notesSlide" Target="/ppt/notesSlides/notesSlide6.xml" Id="Rcf70c14cb09d423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7d325cdc8d4c09" /><Relationship Type="http://schemas.openxmlformats.org/officeDocument/2006/relationships/notesSlide" Target="/ppt/notesSlides/notesSlide7.xml" Id="Rdd2baa4443ba44a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ea238a838f46b7" /><Relationship Type="http://schemas.openxmlformats.org/officeDocument/2006/relationships/chart" Target="/ppt/slides/charts/chart1.xml" Id="R723cae10a5cf4dcd" /><Relationship Type="http://schemas.openxmlformats.org/officeDocument/2006/relationships/notesSlide" Target="/ppt/notesSlides/notesSlide8.xml" Id="Rc9cd4200fdbb44f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59b2fad2674882" /><Relationship Type="http://schemas.openxmlformats.org/officeDocument/2006/relationships/notesSlide" Target="/ppt/notesSlides/notesSlide9.xml" Id="R201cc7f50666411d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Read hit ratio (%)</c:v>
          </c:tx>
          <c:spPr>
            <a:solidFill xmlns:a="http://schemas.openxmlformats.org/drawingml/2006/main">
              <a:srgbClr val="1769AA"/>
            </a:solidFill>
          </c:spPr>
          <c:cat>
            <c:strRef>
              <c:f>'Chart Data'!$A$2:$A$5</c:f>
              <c:strCache>
                <c:ptCount val="4"/>
                <c:pt idx="0">
                  <c:v>No prefetch</c:v>
                </c:pt>
                <c:pt idx="1">
                  <c:v>Read ahead</c:v>
                </c:pt>
                <c:pt idx="2">
                  <c:v>Fixed stride</c:v>
                </c:pt>
                <c:pt idx="3">
                  <c:v>Adaptive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0</c:v>
                </c:pt>
                <c:pt idx="1">
                  <c:v>25.8</c:v>
                </c:pt>
                <c:pt idx="2">
                  <c:v>7.8</c:v>
                </c:pt>
                <c:pt idx="3">
                  <c:v>25.1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solidFill>
                    <a:srgbClr val="14273B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B5B6A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60AA7F-21F8-4426-8F5D-56A25841B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0"/>
            <a:ext cx="1047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4273B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4273B"/>
                </a:solidFill>
                <a:latin typeface="Arial"/>
                <a:ea typeface="Arial"/>
                <a:cs typeface="Arial"/>
              </a:rPr>
              <a:t>Machine Learning-Based Adaptive Disk I/O Prefetching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206B65-A1E6-438E-9022-B965856F7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762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69AA"/>
                </a:solidFill>
                <a:latin typeface="Arial"/>
                <a:ea typeface="Arial"/>
                <a:cs typeface="Arial"/>
              </a:rPr>
              <a:t>Project Review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858B32-48EA-477A-BFFE-71AE0ED34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B5B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B5B6A"/>
                </a:solidFill>
                <a:latin typeface="Arial"/>
                <a:ea typeface="Arial"/>
                <a:cs typeface="Arial"/>
              </a:rPr>
              <a:t>Ashvik Mishra 24BAI0342 and Shourya Saraf 24BDS0391</a:t>
            </a:r>
          </a:p>
        </p:txBody>
      </p:sp>
    </p:spTree>
    <p:extLst>
      <p:ext uri="{BB962C8B-B14F-4D97-AF65-F5344CB8AC3E}">
        <p14:creationId xmlns:p14="http://schemas.microsoft.com/office/powerpoint/2010/main" val="3454719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23EC1B-C678-4E15-BF22-46CE58164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7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73B"/>
                </a:solidFill>
                <a:latin typeface="Arial"/>
                <a:ea typeface="Arial"/>
                <a:cs typeface="Arial"/>
              </a:rPr>
              <a:t>Review 2 objective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A02D0B-DD46-41F5-9B0C-DF483FE25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4273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4273B"/>
                </a:solidFill>
                <a:latin typeface="Arial"/>
                <a:ea typeface="Arial"/>
                <a:cs typeface="Arial"/>
              </a:rPr>
              <a:t>Classify four access patterns from recent I/O requests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1952AF-B899-4ECA-82E1-0D3799C88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4273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4273B"/>
                </a:solidFill>
                <a:latin typeface="Arial"/>
                <a:ea typeface="Arial"/>
                <a:cs typeface="Arial"/>
              </a:rPr>
              <a:t>Use the predicted pattern to select a prefetch policy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6F907B-D293-4A49-A971-E4240E22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4273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4273B"/>
                </a:solidFill>
                <a:latin typeface="Arial"/>
                <a:ea typeface="Arial"/>
                <a:cs typeface="Arial"/>
              </a:rPr>
              <a:t>Measure cache hits and wasted prefetches in one replay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1EC721-B3A8-49C5-BF4A-3CE185C79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9112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69AA"/>
                </a:solidFill>
                <a:latin typeface="Arial"/>
                <a:ea typeface="Arial"/>
                <a:cs typeface="Arial"/>
              </a:rPr>
              <a:t>Current evidence: labelled synthetic traces</a:t>
            </a:r>
          </a:p>
        </p:txBody>
      </p:sp>
    </p:spTree>
    <p:extLst>
      <p:ext uri="{BB962C8B-B14F-4D97-AF65-F5344CB8AC3E}">
        <p14:creationId xmlns:p14="http://schemas.microsoft.com/office/powerpoint/2010/main" val="3829885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F73F9A-84FD-463B-93BC-B0BC3E442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7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73B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C484F6-5CF6-4804-A171-78976C66B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I/O trace requests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F23347-8C8D-431A-8A9C-5AB5EDB78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7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73B"/>
                </a:solidFill>
                <a:latin typeface="Arial"/>
                <a:ea typeface="Arial"/>
                <a:cs typeface="Arial"/>
              </a:rPr>
              <a:t>↓  Validate and group 32 recent requests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5F6A6F-37CB-470D-B727-404D655B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7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73B"/>
                </a:solidFill>
                <a:latin typeface="Arial"/>
                <a:ea typeface="Arial"/>
                <a:cs typeface="Arial"/>
              </a:rPr>
              <a:t>↓  Extract address, stride and timing features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3880E7-E602-4BA9-8198-3C090C4D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86125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7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73B"/>
                </a:solidFill>
                <a:latin typeface="Arial"/>
                <a:ea typeface="Arial"/>
                <a:cs typeface="Arial"/>
              </a:rPr>
              <a:t>↓  Predict sequential / strided / random / mixed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C2A498-B46A-4CA2-9332-3148CD634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7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73B"/>
                </a:solidFill>
                <a:latin typeface="Arial"/>
                <a:ea typeface="Arial"/>
                <a:cs typeface="Arial"/>
              </a:rPr>
              <a:t>↓  Select policy for subsequent requests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62D96F-E417-4733-BF2D-3818ADD90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24375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7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73B"/>
                </a:solidFill>
                <a:latin typeface="Arial"/>
                <a:ea typeface="Arial"/>
                <a:cs typeface="Arial"/>
              </a:rPr>
              <a:t>↓  Replay in LRU cache and measure outcomes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80BBCF-8BA8-4E8C-99C1-18A92F5F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69AA"/>
                </a:solidFill>
                <a:latin typeface="Arial"/>
                <a:ea typeface="Arial"/>
                <a:cs typeface="Arial"/>
              </a:rPr>
              <a:t>No future requests are used to make an earlier decision</a:t>
            </a:r>
          </a:p>
        </p:txBody>
      </p:sp>
    </p:spTree>
    <p:extLst>
      <p:ext uri="{BB962C8B-B14F-4D97-AF65-F5344CB8AC3E}">
        <p14:creationId xmlns:p14="http://schemas.microsoft.com/office/powerpoint/2010/main" val="4422208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7434A3-CDDD-496E-8B82-8B4D78F9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7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73B"/>
                </a:solidFill>
                <a:latin typeface="Arial"/>
                <a:ea typeface="Arial"/>
                <a:cs typeface="Arial"/>
              </a:rPr>
              <a:t>Trace format and workload classes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F6BC78-0FAA-4153-92FE-669895727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timestamp_ms    lba    size_blocks    operation    stream_id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81A517-AD9F-41EF-BA28-0B79D97B3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7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73B"/>
                </a:solidFill>
                <a:latin typeface="Arial"/>
                <a:ea typeface="Arial"/>
                <a:cs typeface="Arial"/>
              </a:rPr>
              <a:t>Sequential: adjacent requests follow request size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583A0F-13E3-4730-99B8-EF3B73441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7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73B"/>
                </a:solidFill>
                <a:latin typeface="Arial"/>
                <a:ea typeface="Arial"/>
                <a:cs typeface="Arial"/>
              </a:rPr>
              <a:t>Strided: a non-contiguous address gap repeats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DE06BD-75FE-4B45-9004-2A5E976FF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7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73B"/>
                </a:solidFill>
                <a:latin typeface="Arial"/>
                <a:ea typeface="Arial"/>
                <a:cs typeface="Arial"/>
              </a:rPr>
              <a:t>Random: address jumps vary widely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473D48-7E1B-4144-9D15-D711D8C1A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7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73B"/>
                </a:solidFill>
                <a:latin typeface="Arial"/>
                <a:ea typeface="Arial"/>
                <a:cs typeface="Arial"/>
              </a:rPr>
              <a:t>Mixed: short local runs alternate with large jumps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BE2426-577F-4956-A3A3-4EC35DE3A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7212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B5B6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B5B6A"/>
                </a:solidFill>
                <a:latin typeface="Arial"/>
                <a:ea typeface="Arial"/>
                <a:cs typeface="Arial"/>
              </a:rPr>
              <a:t>Current model uses the aggregate stream. Per-process analysis remains future work</a:t>
            </a:r>
          </a:p>
        </p:txBody>
      </p:sp>
    </p:spTree>
    <p:extLst>
      <p:ext uri="{BB962C8B-B14F-4D97-AF65-F5344CB8AC3E}">
        <p14:creationId xmlns:p14="http://schemas.microsoft.com/office/powerpoint/2010/main" val="15452891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DD051C-0D97-418B-B4F4-D4D37CB89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7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73B"/>
                </a:solidFill>
                <a:latin typeface="Arial"/>
                <a:ea typeface="Arial"/>
                <a:cs typeface="Arial"/>
              </a:rPr>
              <a:t>Incremental workload classifier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CCEB68-E5A8-4885-9067-6378F849B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7162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Eight lightweight features per 32-request window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A862EF-2544-4D0A-B72D-E1CAAD2D7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7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73B"/>
                </a:solidFill>
                <a:latin typeface="Arial"/>
                <a:ea typeface="Arial"/>
                <a:cs typeface="Arial"/>
              </a:rPr>
              <a:t>Contiguous ratio, dominant stride, jump size, local runs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F4D172-FED3-4751-989C-BC3F7BFC9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9087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7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73B"/>
                </a:solidFill>
                <a:latin typeface="Arial"/>
                <a:ea typeface="Arial"/>
                <a:cs typeface="Arial"/>
              </a:rPr>
              <a:t>Unique addresses, timing variation, burst rate, read ratio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6F4B63-366C-41FE-93CB-280C7CF11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7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73B"/>
                </a:solidFill>
                <a:latin typeface="Arial"/>
                <a:ea typeface="Arial"/>
                <a:cs typeface="Arial"/>
              </a:rPr>
              <a:t>Online Gaussian Naive Bayes updates from labelled windows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0E69D9-E0BF-4375-A991-791EBB83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863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B5B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B5B6A"/>
                </a:solidFill>
                <a:latin typeface="Arial"/>
                <a:ea typeface="Arial"/>
                <a:cs typeface="Arial"/>
              </a:rPr>
              <a:t>Real, unlabelled traces run with updates disabled</a:t>
            </a:r>
          </a:p>
        </p:txBody>
      </p:sp>
    </p:spTree>
    <p:extLst>
      <p:ext uri="{BB962C8B-B14F-4D97-AF65-F5344CB8AC3E}">
        <p14:creationId xmlns:p14="http://schemas.microsoft.com/office/powerpoint/2010/main" val="9979537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EEEC53-A12D-4F78-A51B-15F04E77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7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73B"/>
                </a:solidFill>
                <a:latin typeface="Arial"/>
                <a:ea typeface="Arial"/>
                <a:cs typeface="Arial"/>
              </a:rPr>
              <a:t>Policy selection and cache replay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EE3491-905C-4EAA-83A9-A8FECE027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7162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7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73B"/>
                </a:solidFill>
                <a:latin typeface="Arial"/>
                <a:ea typeface="Arial"/>
                <a:cs typeface="Arial"/>
              </a:rPr>
              <a:t>Sequential      Read ahead by two blocks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1BD550-6908-4651-8248-5D8CEB4CC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3362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7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73B"/>
                </a:solidFill>
                <a:latin typeface="Arial"/>
                <a:ea typeface="Arial"/>
                <a:cs typeface="Arial"/>
              </a:rPr>
              <a:t>Strided              Follow the detected stride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B809F6-78D7-4C9F-B62E-961D90AE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9562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7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73B"/>
                </a:solidFill>
                <a:latin typeface="Arial"/>
                <a:ea typeface="Arial"/>
                <a:cs typeface="Arial"/>
              </a:rPr>
              <a:t>Random            Issue no prefetch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F65C39-A7D3-4447-BE7F-A03220CED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5762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7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73B"/>
                </a:solidFill>
                <a:latin typeface="Arial"/>
                <a:ea typeface="Arial"/>
                <a:cs typeface="Arial"/>
              </a:rPr>
              <a:t>Mixed                Conservative one-block read ahead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79A1E2-ED71-4620-9198-4BD523CDF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9112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69AA"/>
                </a:solidFill>
                <a:latin typeface="Arial"/>
                <a:ea typeface="Arial"/>
                <a:cs typeface="Arial"/>
              </a:rPr>
              <a:t>Same requests and LRU capacity for every comparison</a:t>
            </a:r>
          </a:p>
        </p:txBody>
      </p:sp>
    </p:spTree>
    <p:extLst>
      <p:ext uri="{BB962C8B-B14F-4D97-AF65-F5344CB8AC3E}">
        <p14:creationId xmlns:p14="http://schemas.microsoft.com/office/powerpoint/2010/main" val="17508559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CF56B3-6586-47D0-B4BB-8615AA0F7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7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73B"/>
                </a:solidFill>
                <a:latin typeface="Arial"/>
                <a:ea typeface="Arial"/>
                <a:cs typeface="Arial"/>
              </a:rPr>
              <a:t>Implemented modules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8878A1-CDF9-4EC4-9637-5507B939C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7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73B"/>
                </a:solidFill>
                <a:latin typeface="Arial"/>
                <a:ea typeface="Arial"/>
                <a:cs typeface="Arial"/>
              </a:rPr>
              <a:t>Trace generator and validated CSV parser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9058D2-2CE3-4A66-8F0F-7E71B725C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431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7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73B"/>
                </a:solidFill>
                <a:latin typeface="Arial"/>
                <a:ea typeface="Arial"/>
                <a:cs typeface="Arial"/>
              </a:rPr>
              <a:t>Window features and incremental classifier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348F21-548A-4186-9054-A284F87ED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98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7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73B"/>
                </a:solidFill>
                <a:latin typeface="Arial"/>
                <a:ea typeface="Arial"/>
                <a:cs typeface="Arial"/>
              </a:rPr>
              <a:t>Prefetch policy routing and LRU cache simulator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E2AE93-B77B-4BA0-B873-8797C1F8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66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7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73B"/>
                </a:solidFill>
                <a:latin typeface="Arial"/>
                <a:ea typeface="Arial"/>
                <a:cs typeface="Arial"/>
              </a:rPr>
              <a:t>No-prefetch, fixed read-ahead, fixed-stride baselines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1D7411-58E6-4B45-B2E2-A9FB05D51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2437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12 automated tests passed in the current build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C50CA0-E44F-4831-B307-8116ABAA4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816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B5B6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B5B6A"/>
                </a:solidFill>
                <a:latin typeface="Arial"/>
                <a:ea typeface="Arial"/>
                <a:cs typeface="Arial"/>
              </a:rPr>
              <a:t>MSR-format sample adapter works. Kernel I/O integration remains pending</a:t>
            </a:r>
          </a:p>
        </p:txBody>
      </p:sp>
    </p:spTree>
    <p:extLst>
      <p:ext uri="{BB962C8B-B14F-4D97-AF65-F5344CB8AC3E}">
        <p14:creationId xmlns:p14="http://schemas.microsoft.com/office/powerpoint/2010/main" val="16163341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3F5D70-6BFF-41A6-A800-8B73EEDB4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7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73B"/>
                </a:solidFill>
                <a:latin typeface="Arial"/>
                <a:ea typeface="Arial"/>
                <a:cs typeface="Arial"/>
              </a:rPr>
              <a:t>Synthetic test results</a:t>
            </a:r>
          </a:p>
        </p:txBody>
      </p:sp>
      <p:graphicFrame>
        <p:nvGraphicFramePr>
          <p:cNvPr id="6" name="Chart"/>
          <p:cNvGraphicFramePr/>
          <p:nvPr/>
        </p:nvGraphicFramePr>
        <p:xfrm>
          <a:off xmlns:a="http://schemas.openxmlformats.org/drawingml/2006/main" x="714375" y="1666875"/>
          <a:ext xmlns:a="http://schemas.openxmlformats.org/drawingml/2006/main" cx="104775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23cae10a5cf4dcd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AA3235-555E-47E6-9AD0-3555A3AD4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27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73B"/>
                </a:solidFill>
                <a:latin typeface="Arial"/>
                <a:ea typeface="Arial"/>
                <a:cs typeface="Arial"/>
              </a:rPr>
              <a:t>Unused prefetches: read ahead 628, adaptive 174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A44AD7-71DC-4FCB-84EF-391523DB6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B5B6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B5B6A"/>
                </a:solidFill>
                <a:latin typeface="Arial"/>
                <a:ea typeface="Arial"/>
                <a:cs typeface="Arial"/>
              </a:rPr>
              <a:t>160/160 synthetic held-out windows classified correctly; no real-trace claim</a:t>
            </a:r>
          </a:p>
        </p:txBody>
      </p:sp>
    </p:spTree>
    <p:extLst>
      <p:ext uri="{BB962C8B-B14F-4D97-AF65-F5344CB8AC3E}">
        <p14:creationId xmlns:p14="http://schemas.microsoft.com/office/powerpoint/2010/main" val="13186996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C55271-278F-4DC1-96CD-C4BEA2BC4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7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73B"/>
                </a:solidFill>
                <a:latin typeface="Arial"/>
                <a:ea typeface="Arial"/>
                <a:cs typeface="Arial"/>
              </a:rPr>
              <a:t>Live demo and current limits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496039-7A97-4A46-9B15-68F3EB6B0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7162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.\run_review2.ps1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6F6AC9-BF4C-4055-94DA-87F49A979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3837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73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73B"/>
                </a:solidFill>
                <a:latin typeface="Arial"/>
                <a:ea typeface="Arial"/>
                <a:cs typeface="Arial"/>
              </a:rPr>
              <a:t>.\run_review2.ps1 -Test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C6750B-0B05-4AC8-A522-3A944408A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273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73B"/>
                </a:solidFill>
                <a:latin typeface="Arial"/>
                <a:ea typeface="Arial"/>
                <a:cs typeface="Arial"/>
              </a:rPr>
              <a:t>.\run_review2.ps1 -Trace msr-cambridge1-sample.csv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7A4D39-5A34-4A50-A726-9FDDBD598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5287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73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73B"/>
                </a:solidFill>
                <a:latin typeface="Arial"/>
                <a:ea typeface="Arial"/>
                <a:cs typeface="Arial"/>
              </a:rPr>
              <a:t>Synthetic labels enable online updates in the demonstration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8EE5AF-F18E-46EF-8DE2-1B487B66A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962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73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73B"/>
                </a:solidFill>
                <a:latin typeface="Arial"/>
                <a:ea typeface="Arial"/>
                <a:cs typeface="Arial"/>
              </a:rPr>
              <a:t>Sample trace labels and source provenance are unverified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3247FC-3BC6-4BD5-865D-7F97982F2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8637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73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73B"/>
                </a:solidFill>
                <a:latin typeface="Arial"/>
                <a:ea typeface="Arial"/>
                <a:cs typeface="Arial"/>
              </a:rPr>
              <a:t>Simulation excludes physical disk latency and bandwidth</a:t>
            </a:r>
          </a:p>
        </p:txBody>
      </p:sp>
    </p:spTree>
    <p:extLst>
      <p:ext uri="{BB962C8B-B14F-4D97-AF65-F5344CB8AC3E}">
        <p14:creationId xmlns:p14="http://schemas.microsoft.com/office/powerpoint/2010/main" val="15729277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2026-09-22T08:13:00.2610000Z</dcterms:created>
  <dcterms:modified xsi:type="dcterms:W3CDTF">2026-09-22T08:13:00.2610000Z</dcterms:modified>
</coreProperties>
</file>